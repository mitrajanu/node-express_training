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3" r:id="rId12"/>
    <p:sldId id="267" r:id="rId13"/>
    <p:sldId id="268" r:id="rId14"/>
    <p:sldId id="304" r:id="rId15"/>
    <p:sldId id="269" r:id="rId16"/>
    <p:sldId id="270" r:id="rId17"/>
    <p:sldId id="271" r:id="rId18"/>
    <p:sldId id="272" r:id="rId19"/>
    <p:sldId id="273" r:id="rId20"/>
    <p:sldId id="274" r:id="rId21"/>
    <p:sldId id="305" r:id="rId22"/>
    <p:sldId id="276" r:id="rId23"/>
    <p:sldId id="277" r:id="rId24"/>
    <p:sldId id="306" r:id="rId25"/>
    <p:sldId id="279" r:id="rId26"/>
    <p:sldId id="307" r:id="rId27"/>
    <p:sldId id="281" r:id="rId28"/>
    <p:sldId id="308" r:id="rId29"/>
    <p:sldId id="282" r:id="rId30"/>
    <p:sldId id="283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318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19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45804" y="2548276"/>
            <a:ext cx="5712133" cy="457200"/>
          </a:xfrm>
          <a:prstGeom prst="rect">
            <a:avLst/>
          </a:prstGeom>
          <a:noFill/>
        </p:spPr>
        <p:txBody>
          <a:bodyPr wrap="square" lIns="38100" rIns="38100">
            <a:normAutofit lnSpcReduction="10000"/>
          </a:bodyPr>
          <a:lstStyle/>
          <a:p>
            <a:pPr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500" dirty="0">
                <a:latin typeface="Aptos"/>
              </a:rPr>
              <a:t>Backend API Development</a:t>
            </a:r>
            <a:r>
              <a:rPr lang="en-IN" sz="2500" dirty="0">
                <a:latin typeface="Aptos"/>
              </a:rPr>
              <a:t> Course</a:t>
            </a:r>
            <a:endParaRPr sz="2500" dirty="0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68141" y="2987040"/>
            <a:ext cx="6248399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0">
                <a:solidFill>
                  <a:srgbClr val="4B5563"/>
                </a:solidFill>
                <a:latin typeface="Aptos"/>
              </a:defRPr>
            </a:pPr>
            <a:endParaRPr sz="1333" dirty="0"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20539" y="3191756"/>
            <a:ext cx="60960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20000"/>
          </a:bodyPr>
          <a:lstStyle/>
          <a:p>
            <a:pPr>
              <a:defRPr sz="1800" b="1">
                <a:solidFill>
                  <a:srgbClr val="F5A000"/>
                </a:solidFill>
                <a:latin typeface="Aptos"/>
              </a:defRPr>
            </a:pPr>
            <a:r>
              <a:rPr sz="1500" dirty="0">
                <a:latin typeface="Apto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8140" y="4076700"/>
            <a:ext cx="6096000" cy="4953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1">
                <a:solidFill>
                  <a:srgbClr val="111827"/>
                </a:solidFill>
                <a:latin typeface="Aptos"/>
              </a:defRPr>
            </a:pPr>
            <a:endParaRPr sz="1250" dirty="0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84656" y="5006340"/>
            <a:ext cx="3345344" cy="289560"/>
          </a:xfrm>
          <a:prstGeom prst="rect">
            <a:avLst/>
          </a:prstGeom>
          <a:noFill/>
        </p:spPr>
        <p:txBody>
          <a:bodyPr wrap="square" lIns="38100" rIns="38100">
            <a:noAutofit/>
          </a:bodyPr>
          <a:lstStyle/>
          <a:p>
            <a:pPr>
              <a:defRPr sz="1500" b="1">
                <a:solidFill>
                  <a:srgbClr val="16006B"/>
                </a:solidFill>
                <a:latin typeface="Aptos"/>
              </a:defRPr>
            </a:pPr>
            <a:r>
              <a:rPr sz="1667" dirty="0">
                <a:latin typeface="Aptos"/>
              </a:rPr>
              <a:t>Instructor: Mitrajanu Mishra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4656" y="5314540"/>
            <a:ext cx="3104508" cy="289560"/>
          </a:xfrm>
          <a:prstGeom prst="rect">
            <a:avLst/>
          </a:prstGeom>
          <a:noFill/>
        </p:spPr>
        <p:txBody>
          <a:bodyPr wrap="square" lIns="38100" rIns="38100">
            <a:noAutofit/>
          </a:bodyPr>
          <a:lstStyle/>
          <a:p>
            <a:pPr>
              <a:defRPr sz="1200" b="0">
                <a:solidFill>
                  <a:srgbClr val="4B5563"/>
                </a:solidFill>
                <a:latin typeface="Aptos"/>
              </a:defRPr>
            </a:pPr>
            <a:r>
              <a:rPr sz="1333" dirty="0">
                <a:latin typeface="Aptos"/>
              </a:rPr>
              <a:t>Senior Software Engineer @KFINTECH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52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2 DAYS · 9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Course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31169"/>
                </a:solidFill>
                <a:latin typeface="Aptos"/>
              </a:rPr>
              <a:t>JS Refresher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2029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057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31169"/>
                </a:solidFill>
                <a:latin typeface="Aptos"/>
              </a:rPr>
              <a:t>Backend Basics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20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2029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057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31169"/>
                </a:solidFill>
                <a:latin typeface="Aptos"/>
              </a:rPr>
              <a:t>Node.js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63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31169"/>
                </a:solidFill>
                <a:latin typeface="Aptos"/>
              </a:rPr>
              <a:t>Express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063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36592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20040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31169"/>
                </a:solidFill>
                <a:latin typeface="Aptos"/>
              </a:rPr>
              <a:t>Data Modelling</a:t>
            </a:r>
            <a:r>
              <a:rPr lang="en-IN" sz="1400" b="1" dirty="0">
                <a:solidFill>
                  <a:srgbClr val="131169"/>
                </a:solidFill>
                <a:latin typeface="Aptos"/>
              </a:rPr>
              <a:t> Concepts</a:t>
            </a:r>
            <a:endParaRPr sz="14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321040" y="3063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85632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200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31169"/>
                </a:solidFill>
                <a:latin typeface="Aptos"/>
              </a:rPr>
              <a:t>MongoDB + Express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06240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315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5676" y="4343400"/>
            <a:ext cx="26962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31169"/>
                </a:solidFill>
                <a:latin typeface="Aptos"/>
              </a:rPr>
              <a:t>Auth</a:t>
            </a:r>
            <a:r>
              <a:rPr lang="en-IN" sz="1400" b="1" dirty="0" err="1">
                <a:solidFill>
                  <a:srgbClr val="131169"/>
                </a:solidFill>
                <a:latin typeface="Aptos"/>
              </a:rPr>
              <a:t>entication</a:t>
            </a:r>
            <a:r>
              <a:rPr lang="en-IN" sz="1400" b="1" dirty="0">
                <a:solidFill>
                  <a:srgbClr val="131169"/>
                </a:solidFill>
                <a:latin typeface="Aptos"/>
              </a:rPr>
              <a:t> and Authorization</a:t>
            </a:r>
            <a:endParaRPr sz="14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0" y="4170817"/>
            <a:ext cx="3246120" cy="731520"/>
          </a:xfrm>
          <a:prstGeom prst="roundRect">
            <a:avLst/>
          </a:prstGeom>
          <a:solidFill>
            <a:srgbClr val="F8F9FD"/>
          </a:solidFill>
          <a:ln>
            <a:solidFill>
              <a:srgbClr val="D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4315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9900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3434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31169"/>
                </a:solidFill>
                <a:latin typeface="Aptos"/>
              </a:rPr>
              <a:t>Secured Routes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9900"/>
                </a:solidFill>
                <a:latin typeface="Aptos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131169"/>
                </a:solidFill>
                <a:latin typeface="Aptos"/>
              </a:rPr>
              <a:t>JavaScript Refresher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4646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rPr lang="en-IN" sz="1600" dirty="0">
                <a:latin typeface="Aptos"/>
              </a:rPr>
              <a:t>Async thinking before server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92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JavaScript is a versatile, dynamically typed programming language that brings life to web pages by making them interactive. It is used for building interactive web applications and supports both client-side and server-side development.</a:t>
            </a:r>
            <a:endParaRPr sz="2000" b="0" dirty="0">
              <a:solidFill>
                <a:srgbClr val="1419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Choose var / let / const correctly and explain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Read and write Promise chains with then/catch.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Use async / await with try/catch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Fetch data and handle success + failure paths.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54863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var, let, const: why scope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var is function-scoped and can surprise you through hoisting.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let is block-scoped for values that genuinely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const is block-scoped for bindings that should not be reassigned.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Default to const; switch to let only when reassignment is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57800"/>
            <a:ext cx="10058400" cy="6858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GOTCHA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1" y="5376672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14192D"/>
                </a:solidFill>
                <a:latin typeface="Aptos"/>
              </a:rPr>
              <a:t>const prevents reassignment, not object mutation.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31169"/>
                </a:solidFill>
                <a:latin typeface="Aptos"/>
              </a:rPr>
              <a:t>Scope in </a:t>
            </a:r>
            <a:r>
              <a:rPr lang="en-IN" sz="2600" b="1" dirty="0">
                <a:solidFill>
                  <a:srgbClr val="131169"/>
                </a:solidFill>
                <a:latin typeface="Aptos"/>
              </a:rPr>
              <a:t>action</a:t>
            </a:r>
            <a:endParaRPr sz="2600" b="1" dirty="0">
              <a:solidFill>
                <a:srgbClr val="13116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764956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const</a:t>
            </a:r>
            <a:r>
              <a:rPr lang="en-IN" sz="1400" dirty="0">
                <a:latin typeface="Consolas"/>
              </a:rPr>
              <a:t> course = { title: 'Backend APIs' };</a:t>
            </a: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course.title</a:t>
            </a:r>
            <a:r>
              <a:rPr lang="en-IN" sz="1400" dirty="0">
                <a:latin typeface="Consolas"/>
              </a:rPr>
              <a:t> = 'Express APIs'; // ok: object changed</a:t>
            </a: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endParaRPr lang="en-IN" sz="1400" dirty="0">
              <a:latin typeface="Consolas"/>
            </a:endParaRP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let count = 0;</a:t>
            </a: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count += 1; // ok: let can be reassigned</a:t>
            </a: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endParaRPr lang="en-IN" sz="1400" dirty="0">
              <a:latin typeface="Consolas"/>
            </a:endParaRP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if (true) {</a:t>
            </a: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  </a:t>
            </a:r>
            <a:r>
              <a:rPr lang="en-IN" sz="1400" dirty="0" err="1">
                <a:latin typeface="Consolas"/>
              </a:rPr>
              <a:t>const</a:t>
            </a:r>
            <a:r>
              <a:rPr lang="en-IN" sz="1400" dirty="0">
                <a:latin typeface="Consolas"/>
              </a:rPr>
              <a:t> token = 'abc123';</a:t>
            </a: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}</a:t>
            </a:r>
          </a:p>
          <a:p>
            <a:pPr>
              <a:spcAft>
                <a:spcPts val="100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// console.log(token); // </a:t>
            </a:r>
            <a:r>
              <a:rPr lang="en-IN" sz="1400" dirty="0" err="1">
                <a:latin typeface="Consolas"/>
              </a:rPr>
              <a:t>ReferenceError</a:t>
            </a:r>
            <a:r>
              <a:rPr lang="en-IN" sz="1400" dirty="0">
                <a:latin typeface="Consolas"/>
              </a:rPr>
              <a:t>: block scoped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Block scope helps prevent accidental variable leaks.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70A7EB87-12E9-45A3-8A2A-AEAE7E11F737}"/>
              </a:ext>
            </a:extLst>
          </p:cNvPr>
          <p:cNvSpPr/>
          <p:nvPr/>
        </p:nvSpPr>
        <p:spPr>
          <a:xfrm>
            <a:off x="7982872" y="2149642"/>
            <a:ext cx="4297680" cy="33824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lang="en-IN" dirty="0" err="1">
                <a:latin typeface="Consolas"/>
              </a:rPr>
              <a:t>const</a:t>
            </a:r>
            <a:r>
              <a:rPr lang="en-IN" dirty="0">
                <a:latin typeface="Consolas"/>
              </a:rPr>
              <a:t> object properties can still change.</a:t>
            </a:r>
          </a:p>
          <a:p>
            <a:pPr>
              <a:spcAft>
                <a:spcPts val="6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lang="en-IN" dirty="0">
                <a:latin typeface="Consolas"/>
              </a:rPr>
              <a:t>let is for values that genuinely change.</a:t>
            </a:r>
          </a:p>
          <a:p>
            <a:pPr>
              <a:spcAft>
                <a:spcPts val="6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lang="en-IN" dirty="0">
                <a:latin typeface="Consolas"/>
              </a:rPr>
              <a:t>Block scope prevents accidental leakage.</a:t>
            </a:r>
          </a:p>
          <a:p>
            <a:pPr algn="ctr"/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FCDDC-20CE-4F2F-98D2-B417C333B0E6}"/>
              </a:ext>
            </a:extLst>
          </p:cNvPr>
          <p:cNvSpPr txBox="1"/>
          <p:nvPr/>
        </p:nvSpPr>
        <p:spPr>
          <a:xfrm>
            <a:off x="8155486" y="2302502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to notice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31169"/>
                </a:solidFill>
                <a:latin typeface="Aptos"/>
              </a:rPr>
              <a:t>Promises: a future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 Promise is pending, fulfilled, or rejected.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then handles success; catch handles failure.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Promises let Node keep working while I/O is pending.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Real-world analogy: a food order token, not the food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async / await is Promise 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async function loadTodo() {
  try {
    const res = await fetch('https://jsonplaceholder.typicode.com/todos/1');
    if (!res.ok) throw new Error('Request failed');
    const todo = await res.json();
    console.log(todo.title);
  } catch (err) {
    console.error('Could not load todo:', err.message);
  }
}
loadTodo();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await pauses this function, not the entire program.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9900"/>
                </a:solidFill>
                <a:latin typeface="Aptos"/>
              </a:rPr>
              <a:t>🛠️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31169"/>
                </a:solidFill>
                <a:latin typeface="Aptos"/>
              </a:rPr>
              <a:t>Fetch from a public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5181" y="2514600"/>
            <a:ext cx="960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dirty="0">
                <a:solidFill>
                  <a:srgbClr val="14192D"/>
                </a:solidFill>
                <a:latin typeface="Aptos"/>
              </a:rPr>
              <a:t>Write a small async script that fetches data, prints one useful </a:t>
            </a:r>
            <a:endParaRPr lang="en-IN" sz="2200" b="0" dirty="0">
              <a:solidFill>
                <a:srgbClr val="14192D"/>
              </a:solidFill>
              <a:latin typeface="Aptos"/>
            </a:endParaRPr>
          </a:p>
          <a:p>
            <a:r>
              <a:rPr sz="2200" b="0" dirty="0">
                <a:solidFill>
                  <a:srgbClr val="14192D"/>
                </a:solidFill>
                <a:latin typeface="Aptos"/>
              </a:rPr>
              <a:t>field, and handles network or response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6816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2677BC"/>
                </a:solidFill>
                <a:latin typeface="Aptos"/>
              </a:rPr>
              <a:t>Time-box: 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810" y="4518481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208D59"/>
                </a:solidFill>
                <a:latin typeface="Aptos"/>
              </a:rPr>
              <a:t>Solution branch: checkpoint-01-js-refresher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57800"/>
            <a:ext cx="10058400" cy="6400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5376672"/>
            <a:ext cx="8778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Try first, then compare. The point is to practice reading errors, not avoid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Module 1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const by default keeps intent 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Promises model async work; async/await makes them easier to read.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Always handle failure paths, especially around network calls.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This async foundation powers Node and Express.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9100" y="1714500"/>
            <a:ext cx="96774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1866900"/>
            <a:ext cx="1524000" cy="3429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800" b="1">
                <a:solidFill>
                  <a:srgbClr val="F5A000"/>
                </a:solidFill>
                <a:latin typeface="Aptos"/>
              </a:defRPr>
            </a:pPr>
            <a:r>
              <a:rPr sz="1500">
                <a:latin typeface="Aptos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991600" cy="762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4200" b="1">
                <a:solidFill>
                  <a:srgbClr val="16006B"/>
                </a:solidFill>
                <a:latin typeface="Aptos"/>
              </a:defRPr>
            </a:pPr>
            <a:r>
              <a:rPr sz="3500">
                <a:latin typeface="Aptos"/>
              </a:rPr>
              <a:t>Backend Fundamentals &amp;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048000"/>
            <a:ext cx="7239000" cy="381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rPr sz="1500">
                <a:latin typeface="Aptos"/>
              </a:rPr>
              <a:t>The vocabulary every API developer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3900" y="3543300"/>
            <a:ext cx="2438400" cy="6096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 |  Mitrajanu Mishra, Senior Software Engineer @ KFINTECH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42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Explain client–server request/response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Choose appropriate HTTP methods and status codes.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Design consistent REST-style API responses.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827"/>
                </a:solidFill>
                <a:latin typeface="Aptos"/>
              </a:defRPr>
            </a:pPr>
            <a:r>
              <a:rPr lang="en-IN" dirty="0">
                <a:latin typeface="Aptos"/>
              </a:rPr>
              <a:t>Describe CORS, cookies, tokens, hashing and environment variables.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Client–server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058400" cy="2468880"/>
          </a:xfrm>
          <a:prstGeom prst="roundRect">
            <a:avLst/>
          </a:prstGeom>
          <a:solidFill>
            <a:srgbClr val="F6F8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1169"/>
                </a:solidFill>
                <a:latin typeface="Courier New"/>
              </a:rPr>
              <a:t>Browser / Mobile App  →  HTTP Request  →  API Server
Browser / Mobile App  ← HTTP Response ←  API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091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4192D"/>
                </a:solidFill>
                <a:latin typeface="Aptos"/>
              </a:rPr>
              <a:t>The backend is the trusted service that applies rules, talks to data stores, and returns structured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" name="Rounded Rectangle 12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Anatomy of an HTTP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95500"/>
            <a:ext cx="4800600" cy="3733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52500" y="2286000"/>
            <a:ext cx="4343400" cy="2286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300" b="1">
                <a:solidFill>
                  <a:srgbClr val="F5A000"/>
                </a:solidFill>
                <a:latin typeface="Aptos"/>
              </a:defRPr>
            </a:pPr>
            <a:r>
              <a:rPr sz="1083">
                <a:latin typeface="Aptos"/>
              </a:rPr>
              <a:t>Concept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06040"/>
            <a:ext cx="4343400" cy="27432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sz="1250">
                <a:latin typeface="Aptos"/>
              </a:rPr>
              <a:t>POST /api/tasks</a:t>
            </a:r>
            <a:br>
              <a:rPr sz="1250"/>
            </a:br>
            <a:r>
              <a:rPr sz="1250">
                <a:latin typeface="Aptos"/>
              </a:rPr>
              <a:t>Headers: Content-Type, Authorization</a:t>
            </a:r>
            <a:br>
              <a:rPr sz="1250"/>
            </a:br>
            <a:r>
              <a:rPr sz="1250">
                <a:latin typeface="Aptos"/>
              </a:rPr>
              <a:t>Body: { title, priority }</a:t>
            </a:r>
            <a:br>
              <a:rPr sz="1250"/>
            </a:br>
            <a:br>
              <a:rPr sz="1250"/>
            </a:br>
            <a:r>
              <a:rPr sz="1250">
                <a:latin typeface="Aptos"/>
              </a:rPr>
              <a:t>Response: status + headers +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3100" y="2095500"/>
            <a:ext cx="50292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019800" y="2324100"/>
            <a:ext cx="4495800" cy="28956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Method tells the intention: GET, POST, PATCH, DELETE.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URL identifies the resource.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Headers carry metadata such as content type and authorization.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Body carries data for create/update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084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Anatomy of a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Method: what action is being attempted.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URL path: which resource is being addressed.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Headers: metadata such as content type or authorization.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Body: data sent for create/update operations.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8EFAA0B9-63E0-4934-9357-CFFFDC2EBB52}"/>
              </a:ext>
            </a:extLst>
          </p:cNvPr>
          <p:cNvSpPr/>
          <p:nvPr/>
        </p:nvSpPr>
        <p:spPr>
          <a:xfrm>
            <a:off x="6723085" y="1383551"/>
            <a:ext cx="5051819" cy="361540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56648-76D5-4AC4-A41E-FD4D5D1CB236}"/>
              </a:ext>
            </a:extLst>
          </p:cNvPr>
          <p:cNvSpPr txBox="1"/>
          <p:nvPr/>
        </p:nvSpPr>
        <p:spPr>
          <a:xfrm>
            <a:off x="7139885" y="1905480"/>
            <a:ext cx="4137715" cy="2447063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lang="en-IN" sz="2000" dirty="0">
                <a:latin typeface="Aptos"/>
              </a:rPr>
              <a:t>Request:</a:t>
            </a:r>
          </a:p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sz="2000" dirty="0">
                <a:latin typeface="Aptos"/>
              </a:rPr>
              <a:t>POST /</a:t>
            </a:r>
            <a:r>
              <a:rPr sz="2000" dirty="0" err="1">
                <a:latin typeface="Aptos"/>
              </a:rPr>
              <a:t>api</a:t>
            </a:r>
            <a:r>
              <a:rPr sz="2000" dirty="0">
                <a:latin typeface="Aptos"/>
              </a:rPr>
              <a:t>/tasks</a:t>
            </a:r>
            <a:br>
              <a:rPr sz="2000" dirty="0"/>
            </a:br>
            <a:r>
              <a:rPr sz="2000" dirty="0">
                <a:latin typeface="Aptos"/>
              </a:rPr>
              <a:t>Headers: Content-Type, Authorization</a:t>
            </a:r>
            <a:br>
              <a:rPr sz="2000" dirty="0"/>
            </a:br>
            <a:r>
              <a:rPr sz="2000" dirty="0">
                <a:latin typeface="Aptos"/>
              </a:rPr>
              <a:t>Body: { title, priority }</a:t>
            </a:r>
            <a:br>
              <a:rPr sz="2000" dirty="0"/>
            </a:br>
            <a:br>
              <a:rPr sz="2000" dirty="0"/>
            </a:br>
            <a:r>
              <a:rPr sz="2000" dirty="0">
                <a:latin typeface="Aptos"/>
              </a:rPr>
              <a:t>Response: status + headers + body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0BCC8-2AB0-4A1F-8CA5-0F87C4253833}"/>
              </a:ext>
            </a:extLst>
          </p:cNvPr>
          <p:cNvSpPr txBox="1"/>
          <p:nvPr/>
        </p:nvSpPr>
        <p:spPr>
          <a:xfrm>
            <a:off x="6979920" y="1575935"/>
            <a:ext cx="5212080" cy="274320"/>
          </a:xfrm>
          <a:prstGeom prst="rect">
            <a:avLst/>
          </a:prstGeom>
          <a:noFill/>
        </p:spPr>
        <p:txBody>
          <a:bodyPr wrap="square" lIns="45720" rIns="45720">
            <a:normAutofit lnSpcReduction="10000"/>
          </a:bodyPr>
          <a:lstStyle/>
          <a:p>
            <a:pPr>
              <a:defRPr sz="1300" b="1">
                <a:solidFill>
                  <a:srgbClr val="F5A000"/>
                </a:solidFill>
                <a:latin typeface="Aptos"/>
              </a:defRPr>
            </a:pPr>
            <a:r>
              <a:rPr dirty="0">
                <a:latin typeface="Aptos"/>
              </a:rPr>
              <a:t>Concept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HTTP methods: choose by intent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GET reads without changing server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POST creates a new resource or triggers a server-side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PUT replaces a resource; PATCH partially updates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DELETE removes a resource.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Status codes: communicate clearly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200 OK: successful read/update/delete. </a:t>
            </a:r>
            <a:endParaRPr lang="en-IN" sz="1800" b="0" dirty="0">
              <a:solidFill>
                <a:srgbClr val="14192D"/>
              </a:solidFill>
              <a:latin typeface="Aptos"/>
            </a:endParaRPr>
          </a:p>
          <a:p>
            <a:r>
              <a:rPr sz="1800" b="0" dirty="0">
                <a:solidFill>
                  <a:srgbClr val="14192D"/>
                </a:solidFill>
                <a:latin typeface="Aptos"/>
              </a:rPr>
              <a:t>201 Created: successful create.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5013" y="2548769"/>
            <a:ext cx="9692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14192D"/>
                </a:solidFill>
                <a:latin typeface="Aptos"/>
              </a:rPr>
              <a:t> 400 Bad Request: invalid input. </a:t>
            </a:r>
          </a:p>
          <a:p>
            <a:r>
              <a:rPr lang="en-IN" dirty="0">
                <a:solidFill>
                  <a:srgbClr val="14192D"/>
                </a:solidFill>
                <a:latin typeface="Aptos"/>
              </a:rPr>
              <a:t> 401: not logged in. </a:t>
            </a:r>
          </a:p>
          <a:p>
            <a:r>
              <a:rPr lang="en-IN" dirty="0">
                <a:solidFill>
                  <a:srgbClr val="14192D"/>
                </a:solidFill>
                <a:latin typeface="Aptos"/>
              </a:rPr>
              <a:t> 403: logged in but not allowed.</a:t>
            </a:r>
            <a:endParaRPr lang="en-IN" sz="1800" b="0" dirty="0">
              <a:solidFill>
                <a:srgbClr val="14192D"/>
              </a:solidFill>
              <a:latin typeface="Aptos"/>
            </a:endParaRPr>
          </a:p>
          <a:p>
            <a:r>
              <a:rPr lang="en-IN" sz="1800" b="0" dirty="0">
                <a:solidFill>
                  <a:srgbClr val="14192D"/>
                </a:solidFill>
                <a:latin typeface="Aptos"/>
              </a:rPr>
              <a:t> </a:t>
            </a:r>
            <a:r>
              <a:rPr sz="1800" b="0" dirty="0">
                <a:solidFill>
                  <a:srgbClr val="14192D"/>
                </a:solidFill>
                <a:latin typeface="Aptos"/>
              </a:rPr>
              <a:t>404 Not Found: resource missing. </a:t>
            </a:r>
            <a:endParaRPr lang="en-IN" sz="1800" b="0" dirty="0">
              <a:solidFill>
                <a:srgbClr val="14192D"/>
              </a:solidFill>
              <a:latin typeface="Aptos"/>
            </a:endParaRPr>
          </a:p>
          <a:p>
            <a:r>
              <a:rPr lang="en-IN" sz="1800" b="0" dirty="0">
                <a:solidFill>
                  <a:srgbClr val="14192D"/>
                </a:solidFill>
                <a:latin typeface="Aptos"/>
              </a:rPr>
              <a:t> </a:t>
            </a:r>
            <a:r>
              <a:rPr sz="1800" b="0" dirty="0">
                <a:solidFill>
                  <a:srgbClr val="14192D"/>
                </a:solidFill>
                <a:latin typeface="Aptos"/>
              </a:rPr>
              <a:t>409 Conflict: duplicate or state conflict.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13" y="4243519"/>
            <a:ext cx="228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9864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500 Internal Server Error: unexpected server failure.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31169"/>
                </a:solidFill>
                <a:latin typeface="Aptos"/>
              </a:rPr>
              <a:t>Consistent</a:t>
            </a:r>
            <a:r>
              <a:rPr lang="en-IN" sz="2600" b="1" dirty="0">
                <a:solidFill>
                  <a:srgbClr val="131169"/>
                </a:solidFill>
                <a:latin typeface="Aptos"/>
              </a:rPr>
              <a:t> REST</a:t>
            </a:r>
            <a:r>
              <a:rPr sz="2600" b="1" dirty="0">
                <a:solidFill>
                  <a:srgbClr val="131169"/>
                </a:solidFill>
                <a:latin typeface="Aptos"/>
              </a:rPr>
              <a:t> response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469" y="1700784"/>
            <a:ext cx="6043061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78621"/>
            <a:ext cx="5618747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dirty="0">
                <a:solidFill>
                  <a:srgbClr val="FFFFFF"/>
                </a:solidFill>
                <a:latin typeface="Courier New"/>
              </a:rPr>
              <a:t>// success
{
  "success": true,
  "data": { "id": "1", "title": "Learn Express" }
}
// error
{
  "success": false,
  "error": { "message": "Task title is required" }
}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23A4817A-A71A-4A84-8289-4E175C24A532}"/>
              </a:ext>
            </a:extLst>
          </p:cNvPr>
          <p:cNvSpPr/>
          <p:nvPr/>
        </p:nvSpPr>
        <p:spPr>
          <a:xfrm>
            <a:off x="6728861" y="1828800"/>
            <a:ext cx="4933749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E349F-A384-42DC-9A00-34B1F915BFA0}"/>
              </a:ext>
            </a:extLst>
          </p:cNvPr>
          <p:cNvSpPr txBox="1"/>
          <p:nvPr/>
        </p:nvSpPr>
        <p:spPr>
          <a:xfrm>
            <a:off x="7074568" y="2418187"/>
            <a:ext cx="4263992" cy="2522781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lang="en-IN" dirty="0">
                <a:latin typeface="Aptos"/>
              </a:rPr>
              <a:t>1.</a:t>
            </a:r>
            <a:r>
              <a:rPr dirty="0">
                <a:latin typeface="Aptos"/>
              </a:rPr>
              <a:t>Predictable shapes make frontend code simpler.</a:t>
            </a:r>
          </a:p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lang="en-IN" dirty="0">
                <a:latin typeface="Aptos"/>
              </a:rPr>
              <a:t>2. </a:t>
            </a:r>
            <a:r>
              <a:rPr dirty="0">
                <a:latin typeface="Aptos"/>
              </a:rPr>
              <a:t>Return useful messages without leaking internal errors.</a:t>
            </a:r>
          </a:p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lang="en-IN" dirty="0">
                <a:latin typeface="Aptos"/>
              </a:rPr>
              <a:t>3. </a:t>
            </a:r>
            <a:r>
              <a:rPr dirty="0">
                <a:latin typeface="Aptos"/>
              </a:rPr>
              <a:t>Include data only when it is safe and needed.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31169"/>
                </a:solidFill>
                <a:latin typeface="Aptos"/>
              </a:rPr>
              <a:t>CORS: browser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969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4920" y="209853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CORS is enforced by browsers, not by Postman.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3876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It protects users from unwanted cross-origin browser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492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The API decides which origins, methods, and headers are allowed.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4920" y="385860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Common mistake: treating CORS errors as database or routing bugs.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5ED1A-4A23-4DAC-A033-F440C15069FC}"/>
              </a:ext>
            </a:extLst>
          </p:cNvPr>
          <p:cNvSpPr txBox="1"/>
          <p:nvPr/>
        </p:nvSpPr>
        <p:spPr>
          <a:xfrm>
            <a:off x="1234440" y="170078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>
                <a:solidFill>
                  <a:srgbClr val="14192D"/>
                </a:solidFill>
                <a:latin typeface="Aptos"/>
              </a:rPr>
              <a:t>CORS stands for </a:t>
            </a:r>
            <a:r>
              <a:rPr lang="en-IN" sz="1800" b="1" dirty="0">
                <a:solidFill>
                  <a:srgbClr val="14192D"/>
                </a:solidFill>
                <a:latin typeface="Aptos"/>
              </a:rPr>
              <a:t>Cross Origin Request Sharing.</a:t>
            </a:r>
            <a:endParaRPr sz="1800" b="1" dirty="0">
              <a:solidFill>
                <a:srgbClr val="14192D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412CA4-4658-4E00-8F21-2AAD70B018D1}"/>
              </a:ext>
            </a:extLst>
          </p:cNvPr>
          <p:cNvSpPr txBox="1"/>
          <p:nvPr/>
        </p:nvSpPr>
        <p:spPr>
          <a:xfrm>
            <a:off x="905956" y="1680614"/>
            <a:ext cx="228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FF9900"/>
                </a:solidFill>
                <a:latin typeface="Aptos"/>
              </a:rPr>
              <a:t>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Cookies vs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Cookies are automatically sent by the browser to matching domains.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Tokens are often sent manually in the Authorization header.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Both can represent a session; both need secure handling.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Rounded Rectangle 15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r>
              <a:rPr lang="en-IN" sz="2000" b="1" dirty="0">
                <a:solidFill>
                  <a:srgbClr val="131169"/>
                </a:solidFill>
                <a:latin typeface="Aptos"/>
              </a:rPr>
              <a:t>Encoding vs encryption vs hashing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95500"/>
            <a:ext cx="4800600" cy="3733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52500" y="2286000"/>
            <a:ext cx="4343400" cy="2286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300" b="1">
                <a:solidFill>
                  <a:srgbClr val="F5A000"/>
                </a:solidFill>
                <a:latin typeface="Aptos"/>
              </a:defRPr>
            </a:pPr>
            <a:r>
              <a:rPr sz="1083">
                <a:latin typeface="Aptos"/>
              </a:rPr>
              <a:t>Concept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06040"/>
            <a:ext cx="4343400" cy="27432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sz="1250">
                <a:latin typeface="Aptos"/>
              </a:rPr>
              <a:t>Encoding: text -&gt; base64 -&gt; text</a:t>
            </a:r>
            <a:br>
              <a:rPr sz="1250"/>
            </a:br>
            <a:r>
              <a:rPr sz="1250">
                <a:latin typeface="Aptos"/>
              </a:rPr>
              <a:t>Encryption: plain -&gt; cipher -&gt; plain with key</a:t>
            </a:r>
            <a:br>
              <a:rPr sz="1250"/>
            </a:br>
            <a:r>
              <a:rPr sz="1250">
                <a:latin typeface="Aptos"/>
              </a:rPr>
              <a:t>Hashing: password -&gt; digest (one-way)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3100" y="2095500"/>
            <a:ext cx="50292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019800" y="2324100"/>
            <a:ext cx="4495800" cy="28956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Encoding changes representation; it is reversible and not security.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Encryption hides data with a key and can be decrypted.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Hashing is one-way and is used for password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900" y="5905500"/>
            <a:ext cx="10058400" cy="4191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914400" y="6004560"/>
            <a:ext cx="9601200" cy="190500"/>
          </a:xfrm>
          <a:prstGeom prst="rect">
            <a:avLst/>
          </a:prstGeom>
          <a:noFill/>
        </p:spPr>
        <p:txBody>
          <a:bodyPr wrap="square" lIns="38100" rIns="38100">
            <a:normAutofit fontScale="70000" lnSpcReduction="20000"/>
          </a:bodyPr>
          <a:lstStyle/>
          <a:p>
            <a:pPr>
              <a:defRPr sz="1200" b="1">
                <a:solidFill>
                  <a:srgbClr val="9A3412"/>
                </a:solidFill>
                <a:latin typeface="Aptos"/>
              </a:defRPr>
            </a:pPr>
            <a:r>
              <a:rPr sz="1000">
                <a:latin typeface="Aptos"/>
              </a:rPr>
              <a:t>Never say “encrypted password” when you mean “hashed password”.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Environment variables &amp; .env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Configuration changes between machines and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Secrets should never live in source code or git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Use .env locally and commit only .env.example.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The app reads </a:t>
            </a:r>
            <a:r>
              <a:rPr sz="1800" b="0" dirty="0" err="1">
                <a:solidFill>
                  <a:srgbClr val="14192D"/>
                </a:solidFill>
                <a:latin typeface="Aptos"/>
              </a:rPr>
              <a:t>process.env</a:t>
            </a:r>
            <a:r>
              <a:rPr sz="1800" b="0" dirty="0">
                <a:solidFill>
                  <a:srgbClr val="14192D"/>
                </a:solidFill>
                <a:latin typeface="Aptos"/>
              </a:rPr>
              <a:t> at startup.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57800"/>
            <a:ext cx="10058400" cy="6858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GOTCHA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1" y="537667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Never commit .env, even “just for class”. Rotate secrets if leaked.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Module 2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HTTP is a contract between client and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Methods, status codes, and response shapes should be intentional.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CORS, cookies, tokens, encryption, encoding, and hashing are different ideas.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Good API design starts before writing Express code.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9100" y="1714500"/>
            <a:ext cx="96774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1866900"/>
            <a:ext cx="1524000" cy="3429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800" b="1">
                <a:solidFill>
                  <a:srgbClr val="F5A000"/>
                </a:solidFill>
                <a:latin typeface="Aptos"/>
              </a:defRPr>
            </a:pPr>
            <a:r>
              <a:rPr sz="1500">
                <a:latin typeface="Aptos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991600" cy="762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4200" b="1">
                <a:solidFill>
                  <a:srgbClr val="16006B"/>
                </a:solidFill>
                <a:latin typeface="Aptos"/>
              </a:defRPr>
            </a:pPr>
            <a:r>
              <a:rPr sz="3500">
                <a:latin typeface="Aptos"/>
              </a:rPr>
              <a:t>Node.js Runtime + Important Built-in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048000"/>
            <a:ext cx="7239000" cy="381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800" b="0">
                <a:solidFill>
                  <a:srgbClr val="4B5563"/>
                </a:solidFill>
                <a:latin typeface="Aptos"/>
              </a:defRPr>
            </a:pPr>
            <a:r>
              <a:rPr sz="1500">
                <a:latin typeface="Aptos"/>
              </a:rPr>
              <a:t>What runs JavaScript on the server, and what ships with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23900" y="3543300"/>
            <a:ext cx="2438400" cy="6096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 |  Mitrajanu Mishra, Senior Software Engineer @ KFINTECH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Explain what Node.js adds to JavaScript.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Describe the event loop at a practical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14192D"/>
                </a:solidFill>
                <a:latin typeface="Aptos"/>
              </a:rPr>
              <a:t>Use modules and package files correctly.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Build a basic JSON API using the built-in http module.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" name="Rounded Rectangle 12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What is Node.js?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95500"/>
            <a:ext cx="4800600" cy="3733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52500" y="2286000"/>
            <a:ext cx="4343400" cy="2286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300" b="1">
                <a:solidFill>
                  <a:srgbClr val="F5A000"/>
                </a:solidFill>
                <a:latin typeface="Aptos"/>
              </a:defRPr>
            </a:pPr>
            <a:r>
              <a:rPr sz="1083">
                <a:latin typeface="Aptos"/>
              </a:rPr>
              <a:t>Concept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06040"/>
            <a:ext cx="4343400" cy="27432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sz="2000" dirty="0">
                <a:latin typeface="Aptos"/>
              </a:rPr>
              <a:t>JavaScript code</a:t>
            </a:r>
            <a:br>
              <a:rPr sz="2000" dirty="0"/>
            </a:br>
            <a:r>
              <a:rPr sz="2000" dirty="0">
                <a:latin typeface="Aptos"/>
              </a:rPr>
              <a:t>   |</a:t>
            </a:r>
            <a:br>
              <a:rPr sz="2000" dirty="0"/>
            </a:br>
            <a:r>
              <a:rPr sz="2000" dirty="0">
                <a:latin typeface="Aptos"/>
              </a:rPr>
              <a:t>Node.js runtime</a:t>
            </a:r>
            <a:br>
              <a:rPr sz="2000" dirty="0"/>
            </a:br>
            <a:r>
              <a:rPr sz="2000" dirty="0">
                <a:latin typeface="Aptos"/>
              </a:rPr>
              <a:t>   |</a:t>
            </a:r>
            <a:br>
              <a:rPr sz="2000" dirty="0"/>
            </a:br>
            <a:r>
              <a:rPr sz="2000" dirty="0">
                <a:latin typeface="Aptos"/>
              </a:rPr>
              <a:t>V8 engine + </a:t>
            </a:r>
            <a:r>
              <a:rPr sz="2000" dirty="0" err="1">
                <a:latin typeface="Aptos"/>
              </a:rPr>
              <a:t>libuv</a:t>
            </a:r>
            <a:r>
              <a:rPr sz="2000" dirty="0">
                <a:latin typeface="Aptos"/>
              </a:rPr>
              <a:t> + built-in modules</a:t>
            </a:r>
            <a:br>
              <a:rPr sz="2000" dirty="0"/>
            </a:br>
            <a:r>
              <a:rPr sz="2000" dirty="0">
                <a:latin typeface="Aptos"/>
              </a:rPr>
              <a:t>   |</a:t>
            </a:r>
            <a:br>
              <a:rPr sz="2000" dirty="0"/>
            </a:br>
            <a:r>
              <a:rPr sz="2000" dirty="0">
                <a:latin typeface="Aptos"/>
              </a:rPr>
              <a:t>OS: files, network, processes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3100" y="2095500"/>
            <a:ext cx="50292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019800" y="2324100"/>
            <a:ext cx="4495800" cy="28956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2000" dirty="0">
                <a:latin typeface="Aptos"/>
              </a:rPr>
              <a:t>Node.js is a JavaScript runtime outside the browser.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2000" dirty="0">
                <a:latin typeface="Aptos"/>
              </a:rPr>
              <a:t>It gives JS access to operating-system capabilities like files, networking and processes.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2000" dirty="0">
                <a:latin typeface="Aptos"/>
              </a:rPr>
              <a:t>The same language can power frontend and backend, but the environment is different.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The event loop, practically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058400" cy="2468880"/>
          </a:xfrm>
          <a:prstGeom prst="roundRect">
            <a:avLst/>
          </a:prstGeom>
          <a:solidFill>
            <a:srgbClr val="F6F8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31169"/>
                </a:solidFill>
                <a:latin typeface="Courier New"/>
              </a:rPr>
              <a:t>Request arrives → start I/O → keep serving others
I/O completes → callback/promise resumes → send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091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4192D"/>
                </a:solidFill>
                <a:latin typeface="Aptos"/>
              </a:rPr>
              <a:t>Non-blocking I/O lets one process handle many waiting operations.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" name="Rounded Rectangle 12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Blocking vs non-blocking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95500"/>
            <a:ext cx="4800600" cy="3733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52500" y="2286000"/>
            <a:ext cx="4343400" cy="2286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300" b="1">
                <a:solidFill>
                  <a:srgbClr val="F5A000"/>
                </a:solidFill>
                <a:latin typeface="Aptos"/>
              </a:defRPr>
            </a:pPr>
            <a:r>
              <a:rPr sz="1083">
                <a:latin typeface="Aptos"/>
              </a:rPr>
              <a:t>Concept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06040"/>
            <a:ext cx="4343400" cy="27432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sz="1250">
                <a:latin typeface="Aptos"/>
              </a:rPr>
              <a:t>Blocking:</a:t>
            </a:r>
            <a:br>
              <a:rPr sz="1250"/>
            </a:br>
            <a:r>
              <a:rPr sz="1250">
                <a:latin typeface="Aptos"/>
              </a:rPr>
              <a:t>[read big file][other requests wait]</a:t>
            </a:r>
            <a:br>
              <a:rPr sz="1250"/>
            </a:br>
            <a:br>
              <a:rPr sz="1250"/>
            </a:br>
            <a:r>
              <a:rPr sz="1250">
                <a:latin typeface="Aptos"/>
              </a:rPr>
              <a:t>Non-blocking:</a:t>
            </a:r>
            <a:br>
              <a:rPr sz="1250"/>
            </a:br>
            <a:r>
              <a:rPr sz="1250">
                <a:latin typeface="Aptos"/>
              </a:rPr>
              <a:t>[start read] -&gt; serve others -&gt; [finish read]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3100" y="2095500"/>
            <a:ext cx="50292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019800" y="2324100"/>
            <a:ext cx="4495800" cy="28956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Blocking code occupies the event loop until complete.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Non-blocking APIs hand work to the system and resume later.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In backend APIs, one slow blocking task can make every user feel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Modules and package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CommonJS uses require/module.exports; ESM uses import/export.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package.json records scripts and dependencies.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package-lock.json pins exact dependency versions.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node_modules contains installed packages and should not be committed.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Raw Node http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7807693" cy="42976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75790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FFFFFF"/>
                </a:solidFill>
                <a:latin typeface="Courier New"/>
              </a:rPr>
              <a:t>import http from ‘</a:t>
            </a:r>
            <a:r>
              <a:rPr lang="en-IN" sz="1400" dirty="0" err="1">
                <a:solidFill>
                  <a:srgbClr val="FFFFFF"/>
                </a:solidFill>
                <a:latin typeface="Courier New"/>
              </a:rPr>
              <a:t>node:http</a:t>
            </a:r>
            <a:r>
              <a:rPr lang="en-IN" sz="1400" dirty="0">
                <a:solidFill>
                  <a:srgbClr val="FFFFFF"/>
                </a:solidFill>
                <a:latin typeface="Courier New"/>
              </a:rPr>
              <a:t>’;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
const server =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http.createServer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((req, res) =&gt; {
 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res.setHeader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('Content-Type', 'application/json');
  if (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req.method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 === 'GET' &amp;&amp; req.url === '/health') {
    return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res.end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JSON.stringify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({ success: true, status: 'ok' }));
  }
 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res.statusCode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 = 404;
 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res.end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JSON.stringify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({ success: false, error: 'Not found' }));
});
</a:t>
            </a:r>
            <a:r>
              <a:rPr lang="en-IN" sz="1400" b="0" dirty="0">
                <a:solidFill>
                  <a:srgbClr val="FFFFFF"/>
                </a:solidFill>
                <a:latin typeface="Courier New"/>
              </a:rPr>
              <a:t>a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
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server.listen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(3000, () =&gt; console.log('API on port 3000'));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url: parse route and query string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42291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3771900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import { URL } from 'node:url';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base = `http://${req.headers.host}`;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parsed = new URL(req.url, base);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console.log(parsed.pathname); // /api/tasks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console.log(parsed.searchParams.get('status')); // 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2019300"/>
            <a:ext cx="3581400" cy="422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URL turns req.url into structured parts.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searchParams is safer than manual string splitting.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Raw Node routing becomes repetitive quickly.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fs/promises: read and write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42291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3771900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import { readFile, writeFile } from 'node:fs/promises';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async function readJson(filePath) {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const text = await readFile(filePath, 'utf-8');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return JSON.parse(text);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}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async function saveJson(filePath, data) {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await writeFile(filePath, JSON.stringify(data, null, 2));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2019300"/>
            <a:ext cx="3581400" cy="422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875">
                <a:latin typeface="Aptos"/>
              </a:rPr>
              <a:t>Use promise-based fs in async functions.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875">
                <a:latin typeface="Aptos"/>
              </a:rPr>
              <a:t>Always parse and stringify explicitly.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875">
                <a:latin typeface="Aptos"/>
              </a:rPr>
              <a:t>File I/O is still I/O: handle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path: build OS-safe file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42291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3771900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import path from 'node:path';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dataPath = path.join(process.cwd(), 'data', 'tasks.json');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ext = path.extname(dataPath); // .json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name = path.basename(dataPath); // tasks.json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2019300"/>
            <a:ext cx="3581400" cy="422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Avoid hardcoded slashes like data\tasks.json.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process.cwd() means the command start directory.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path.join works across Windows, macOS and Linux.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events: publish and subscribe inside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42291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3771900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import { EventEmitter } from 'node:events';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bus = new EventEmitter();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bus.on('task:created', (task) =&gt; {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console.log('New task:', task.title);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});</a:t>
            </a: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bus.emit('task:created', { title: 'Learn Node modules' 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2019300"/>
            <a:ext cx="3581400" cy="422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Emitter separates “something happened” from “who reacts”.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Useful for logging, notifications or internal hooks.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Avoid turning it into invisible spaghetti.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stream: process data chunk by chunk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42291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3771900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import { createReadStream } from 'node:fs';</a:t>
            </a: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stream = createReadStream('large-log.txt', { encoding: 'utf-8' });</a:t>
            </a: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stream.on('data', (chunk) =&gt; {</a:t>
            </a: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console.log('Received chunk:', chunk.length);</a:t>
            </a: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});</a:t>
            </a: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2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stream.on('end', () =&gt; console.log('Finished'));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2019300"/>
            <a:ext cx="3581400" cy="422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Streams avoid loading huge files all at once.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They are central to uploads, downloads and logs.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Express request/response objects are stream-based.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crypto: create a secure random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42291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3771900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import crypto from 'node:crypto';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id = crypto.randomUUID();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const token = crypto.randomBytes(32).toString('hex');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console.log(id);</a:t>
            </a:r>
          </a:p>
          <a:p>
            <a:pPr>
              <a:spcAft>
                <a:spcPts val="83"/>
              </a:spcAft>
              <a:defRPr sz="14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console.log(token);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2019300"/>
            <a:ext cx="3581400" cy="422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Use crypto for random tokens, IDs and signatures.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Do not use Math.random() for security.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Password hashing will later use bcrypt, not plain crypto hashes.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process: read environment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344805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2642937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1600" dirty="0">
                <a:latin typeface="Consolas"/>
              </a:rPr>
              <a:t>const PORT = </a:t>
            </a:r>
            <a:r>
              <a:rPr sz="1600" dirty="0" err="1">
                <a:latin typeface="Consolas"/>
              </a:rPr>
              <a:t>process.env.PORT</a:t>
            </a:r>
            <a:r>
              <a:rPr sz="1600" dirty="0">
                <a:latin typeface="Consolas"/>
              </a:rPr>
              <a:t> || 3000;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1600" dirty="0">
                <a:latin typeface="Consolas"/>
              </a:rPr>
              <a:t>const NODE_ENV = </a:t>
            </a:r>
            <a:r>
              <a:rPr sz="1600" dirty="0" err="1">
                <a:latin typeface="Consolas"/>
              </a:rPr>
              <a:t>process.env.NODE_ENV</a:t>
            </a:r>
            <a:r>
              <a:rPr sz="1600" dirty="0">
                <a:latin typeface="Consolas"/>
              </a:rPr>
              <a:t> || 'development';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endParaRPr sz="1600" dirty="0">
              <a:latin typeface="Consolas"/>
            </a:endParaRP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1600" dirty="0">
                <a:latin typeface="Consolas"/>
              </a:rPr>
              <a:t>console.log(`Mode: ${NODE_ENV}`);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1600" dirty="0">
                <a:latin typeface="Consolas"/>
              </a:rPr>
              <a:t>console.log(`Listening on ${PORT}`);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1847851"/>
            <a:ext cx="3581400" cy="3448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600" dirty="0" err="1">
                <a:latin typeface="Aptos"/>
              </a:rPr>
              <a:t>process.env</a:t>
            </a:r>
            <a:r>
              <a:rPr sz="1600" dirty="0">
                <a:latin typeface="Aptos"/>
              </a:rPr>
              <a:t> connects code to configuration.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600" dirty="0">
                <a:latin typeface="Aptos"/>
              </a:rPr>
              <a:t>Keep secrets outside source code.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600" dirty="0">
                <a:latin typeface="Aptos"/>
              </a:rPr>
              <a:t>Defaults keep local setup friendly.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 dirty="0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" name="Rounded Rectangle 12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Raw Node 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95500"/>
            <a:ext cx="4800600" cy="3733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52500" y="2286000"/>
            <a:ext cx="4343400" cy="2286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300" b="1">
                <a:solidFill>
                  <a:srgbClr val="F5A000"/>
                </a:solidFill>
                <a:latin typeface="Aptos"/>
              </a:defRPr>
            </a:pPr>
            <a:r>
              <a:rPr sz="1083">
                <a:latin typeface="Aptos"/>
              </a:rPr>
              <a:t>Concept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06040"/>
            <a:ext cx="4343400" cy="27432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sz="1250">
                <a:latin typeface="Aptos"/>
              </a:rPr>
              <a:t>Incoming request</a:t>
            </a:r>
            <a:br>
              <a:rPr sz="1250"/>
            </a:br>
            <a:r>
              <a:rPr sz="1250">
                <a:latin typeface="Aptos"/>
              </a:rPr>
              <a:t>  -&gt; parse URL</a:t>
            </a:r>
            <a:br>
              <a:rPr sz="1250"/>
            </a:br>
            <a:r>
              <a:rPr sz="1250">
                <a:latin typeface="Aptos"/>
              </a:rPr>
              <a:t>  -&gt; match method + path</a:t>
            </a:r>
            <a:br>
              <a:rPr sz="1250"/>
            </a:br>
            <a:r>
              <a:rPr sz="1250">
                <a:latin typeface="Aptos"/>
              </a:rPr>
              <a:t>  -&gt; read body if needed</a:t>
            </a:r>
            <a:br>
              <a:rPr sz="1250"/>
            </a:br>
            <a:r>
              <a:rPr sz="1250">
                <a:latin typeface="Aptos"/>
              </a:rPr>
              <a:t>  -&gt; run logic</a:t>
            </a:r>
            <a:br>
              <a:rPr sz="1250"/>
            </a:br>
            <a:r>
              <a:rPr sz="1250">
                <a:latin typeface="Aptos"/>
              </a:rPr>
              <a:t>  -&gt; set status/header</a:t>
            </a:r>
            <a:br>
              <a:rPr sz="1250"/>
            </a:br>
            <a:r>
              <a:rPr sz="1250">
                <a:latin typeface="Aptos"/>
              </a:rPr>
              <a:t>  -&gt; res.end(JSON)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3100" y="2095500"/>
            <a:ext cx="50292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019800" y="2324100"/>
            <a:ext cx="4495800" cy="28956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Every request enters the same callback.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You manually branch by method and pathname.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You manually collect body chunks for POST/PATCH.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You manually format JSON and status codes.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Rounded Rectangle 13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Raw Node: collect request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19300"/>
            <a:ext cx="6324600" cy="42291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14400" y="2110740"/>
            <a:ext cx="5943600" cy="190500"/>
          </a:xfrm>
          <a:prstGeom prst="rect">
            <a:avLst/>
          </a:prstGeom>
          <a:noFill/>
        </p:spPr>
        <p:txBody>
          <a:bodyPr wrap="square" lIns="38100" rIns="38100">
            <a:normAutofit fontScale="85000" lnSpcReduction="10000"/>
          </a:bodyPr>
          <a:lstStyle/>
          <a:p>
            <a:pPr>
              <a:defRPr sz="1000" b="1">
                <a:solidFill>
                  <a:srgbClr val="F5A000"/>
                </a:solidFill>
                <a:latin typeface="Aptos"/>
              </a:defRPr>
            </a:pPr>
            <a:r>
              <a:rPr sz="833">
                <a:latin typeface="Aptos"/>
              </a:rPr>
              <a:t>Runnable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2200"/>
            <a:ext cx="5981700" cy="3771900"/>
          </a:xfrm>
          <a:prstGeom prst="rect">
            <a:avLst/>
          </a:prstGeom>
          <a:noFill/>
        </p:spPr>
        <p:txBody>
          <a:bodyPr wrap="square" lIns="30480" tIns="30480" rIns="30480">
            <a:normAutofit/>
          </a:bodyPr>
          <a:lstStyle/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async function readBody(req) {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let body = '';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for await (const chunk of req) {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  body += chunk;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}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endParaRPr sz="875">
              <a:latin typeface="Consolas"/>
            </a:endParaRP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  return body ? JSON.parse(body) : {};</a:t>
            </a:r>
          </a:p>
          <a:p>
            <a:pPr>
              <a:spcAft>
                <a:spcPts val="83"/>
              </a:spcAft>
              <a:defRPr sz="1500">
                <a:solidFill>
                  <a:srgbClr val="E5E7EB"/>
                </a:solidFill>
                <a:latin typeface="Consolas"/>
              </a:defRPr>
            </a:pPr>
            <a:r>
              <a:rPr sz="875"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7100" y="2019300"/>
            <a:ext cx="3581400" cy="422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7505700" y="2247900"/>
            <a:ext cx="3200400" cy="2667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sz="1333">
                <a:latin typeface="Aptos"/>
              </a:rPr>
              <a:t>What to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1900" y="2628900"/>
            <a:ext cx="2971800" cy="26670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Request bodies arrive as a stream.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for await reads each chunk cleanly.</a:t>
            </a:r>
          </a:p>
          <a:p>
            <a:pPr>
              <a:spcAft>
                <a:spcPts val="5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250">
                <a:latin typeface="Aptos"/>
              </a:rPr>
              <a:t>Express gives you express.json() for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9900"/>
                </a:solidFill>
                <a:latin typeface="Aptos"/>
              </a:rPr>
              <a:t>🛠️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31169"/>
                </a:solidFill>
                <a:latin typeface="Aptos"/>
              </a:rPr>
              <a:t>Build a basic API with Node http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960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dirty="0">
                <a:solidFill>
                  <a:srgbClr val="14192D"/>
                </a:solidFill>
                <a:latin typeface="Aptos"/>
              </a:rPr>
              <a:t>Create /health and /tasks endpoints using Node's built-in </a:t>
            </a:r>
            <a:endParaRPr lang="en-IN" sz="2200" b="0" dirty="0">
              <a:solidFill>
                <a:srgbClr val="14192D"/>
              </a:solidFill>
              <a:latin typeface="Aptos"/>
            </a:endParaRPr>
          </a:p>
          <a:p>
            <a:r>
              <a:rPr sz="2200" b="0" dirty="0">
                <a:solidFill>
                  <a:srgbClr val="14192D"/>
                </a:solidFill>
                <a:latin typeface="Aptos"/>
              </a:rPr>
              <a:t>http module. Return JSON and handle unknown routes.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677BC"/>
                </a:solidFill>
                <a:latin typeface="Aptos"/>
              </a:rPr>
              <a:t>Time-box: 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8D59"/>
                </a:solidFill>
                <a:latin typeface="Aptos"/>
              </a:rPr>
              <a:t>Solution branch: checkpoint-02-node-http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57800"/>
            <a:ext cx="10058400" cy="6400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5376672"/>
            <a:ext cx="8778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Try first, then compare. The point is to practice reading errors, not avoid them.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GOTCHA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Why raw http gets painful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You manually parse paths, methods, body, and errors.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Every route adds branching and repeated response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Middleware-style reuse is missing.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This is exactly the pain Express solves.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Module 3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Node runs JavaScript on the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The event loop is practical because API work waits on I/O.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package.json and package-lock.json are part of the project contract.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Raw http teaches the basics; Express improves productivity.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9900"/>
                </a:solidFill>
                <a:latin typeface="Aptos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9052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31169"/>
                </a:solidFill>
                <a:latin typeface="Aptos"/>
              </a:rPr>
              <a:t>Express.js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378"/>
                </a:solidFill>
                <a:latin typeface="Aptos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132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Express JS is a minimal, flexible, and open-source </a:t>
            </a:r>
            <a:r>
              <a:rPr lang="en-IN" b="1" dirty="0"/>
              <a:t>backend web application framework for Node.js</a:t>
            </a:r>
            <a:r>
              <a:rPr lang="en-IN" sz="2000" dirty="0"/>
              <a:t> designed to build web applications and APIs quickly.</a:t>
            </a:r>
            <a:endParaRPr sz="2000" b="0" dirty="0">
              <a:solidFill>
                <a:srgbClr val="1419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Create an Express server with JSON middleware.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Build REST endpoints using route and query params.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Use req and res intentionally.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Add validation, custom middleware, and centralized error handling.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Express: the router and middleware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Express sits on top of Node http.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It gives clean routing, middleware, and response helpers.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It does not force a project structure; you decide.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Think of it as traffic control for incoming requests.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Minimal Express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7149966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281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import express from 'express';</a:t>
            </a: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endParaRPr lang="en-IN" sz="1400" dirty="0">
              <a:latin typeface="Consolas"/>
            </a:endParaRP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const</a:t>
            </a:r>
            <a:r>
              <a:rPr lang="en-IN" sz="1400" dirty="0">
                <a:latin typeface="Consolas"/>
              </a:rPr>
              <a:t> app = express();</a:t>
            </a: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const</a:t>
            </a:r>
            <a:r>
              <a:rPr lang="en-IN" sz="1400" dirty="0">
                <a:latin typeface="Consolas"/>
              </a:rPr>
              <a:t> PORT = </a:t>
            </a:r>
            <a:r>
              <a:rPr lang="en-IN" sz="1400" dirty="0" err="1">
                <a:latin typeface="Consolas"/>
              </a:rPr>
              <a:t>process.env.PORT</a:t>
            </a:r>
            <a:r>
              <a:rPr lang="en-IN" sz="1400" dirty="0">
                <a:latin typeface="Consolas"/>
              </a:rPr>
              <a:t> || 3000;</a:t>
            </a: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endParaRPr lang="en-IN" sz="1400" dirty="0">
              <a:latin typeface="Consolas"/>
            </a:endParaRP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app.use</a:t>
            </a:r>
            <a:r>
              <a:rPr lang="en-IN" sz="1400" dirty="0">
                <a:latin typeface="Consolas"/>
              </a:rPr>
              <a:t>(</a:t>
            </a:r>
            <a:r>
              <a:rPr lang="en-IN" sz="1400" dirty="0" err="1">
                <a:latin typeface="Consolas"/>
              </a:rPr>
              <a:t>express.json</a:t>
            </a:r>
            <a:r>
              <a:rPr lang="en-IN" sz="1400" dirty="0">
                <a:latin typeface="Consolas"/>
              </a:rPr>
              <a:t>());</a:t>
            </a: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endParaRPr lang="en-IN" sz="1400" dirty="0">
              <a:latin typeface="Consolas"/>
            </a:endParaRP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app.get</a:t>
            </a:r>
            <a:r>
              <a:rPr lang="en-IN" sz="1400" dirty="0">
                <a:latin typeface="Consolas"/>
              </a:rPr>
              <a:t>('/health', (</a:t>
            </a:r>
            <a:r>
              <a:rPr lang="en-IN" sz="1400" dirty="0" err="1">
                <a:latin typeface="Consolas"/>
              </a:rPr>
              <a:t>req</a:t>
            </a:r>
            <a:r>
              <a:rPr lang="en-IN" sz="1400" dirty="0">
                <a:latin typeface="Consolas"/>
              </a:rPr>
              <a:t>, res) =&gt; {</a:t>
            </a: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  </a:t>
            </a:r>
            <a:r>
              <a:rPr lang="en-IN" sz="1400" dirty="0" err="1">
                <a:latin typeface="Consolas"/>
              </a:rPr>
              <a:t>res.json</a:t>
            </a:r>
            <a:r>
              <a:rPr lang="en-IN" sz="1400" dirty="0">
                <a:latin typeface="Consolas"/>
              </a:rPr>
              <a:t>({ success: true, message: 'API is healthy' });</a:t>
            </a: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});</a:t>
            </a: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endParaRPr lang="en-IN" sz="1400" dirty="0">
              <a:latin typeface="Consolas"/>
            </a:endParaRPr>
          </a:p>
          <a:p>
            <a:pPr>
              <a:spcAft>
                <a:spcPts val="100"/>
              </a:spcAft>
              <a:defRPr sz="11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app.listen</a:t>
            </a:r>
            <a:r>
              <a:rPr lang="en-IN" sz="1400" dirty="0">
                <a:latin typeface="Consolas"/>
              </a:rPr>
              <a:t>(PORT, () =&gt; console.log(`API running on ${PORT}`));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0" dirty="0" err="1">
                <a:solidFill>
                  <a:srgbClr val="14192D"/>
                </a:solidFill>
                <a:latin typeface="Aptos"/>
              </a:rPr>
              <a:t>express.json</a:t>
            </a:r>
            <a:r>
              <a:rPr lang="en-IN" sz="1300" b="0" dirty="0">
                <a:solidFill>
                  <a:srgbClr val="14192D"/>
                </a:solidFill>
                <a:latin typeface="Aptos"/>
              </a:rPr>
              <a:t>() must run before routes that read </a:t>
            </a:r>
            <a:r>
              <a:rPr lang="en-IN" sz="1300" b="0" dirty="0" err="1">
                <a:solidFill>
                  <a:srgbClr val="14192D"/>
                </a:solidFill>
                <a:latin typeface="Aptos"/>
              </a:rPr>
              <a:t>req.body</a:t>
            </a:r>
            <a:r>
              <a:rPr lang="en-IN" sz="1300" b="0" dirty="0">
                <a:solidFill>
                  <a:srgbClr val="14192D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5A8F6EFC-7212-4441-9222-CED89A72A515}"/>
              </a:ext>
            </a:extLst>
          </p:cNvPr>
          <p:cNvSpPr/>
          <p:nvPr/>
        </p:nvSpPr>
        <p:spPr>
          <a:xfrm>
            <a:off x="8171456" y="1828800"/>
            <a:ext cx="3502232" cy="3690669"/>
          </a:xfrm>
          <a:prstGeom prst="roundRect">
            <a:avLst>
              <a:gd name="adj" fmla="val 2399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87882A-84A1-4CA7-9FF3-E04FF6AB610C}"/>
              </a:ext>
            </a:extLst>
          </p:cNvPr>
          <p:cNvSpPr txBox="1"/>
          <p:nvPr/>
        </p:nvSpPr>
        <p:spPr>
          <a:xfrm>
            <a:off x="8398764" y="2430217"/>
            <a:ext cx="2738628" cy="18369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600" dirty="0" err="1">
                <a:latin typeface="Aptos"/>
              </a:rPr>
              <a:t>express.json</a:t>
            </a:r>
            <a:r>
              <a:rPr sz="1600" dirty="0">
                <a:latin typeface="Aptos"/>
              </a:rPr>
              <a:t>() parses JSON bodies.</a:t>
            </a:r>
          </a:p>
          <a:p>
            <a:pPr>
              <a:spcAft>
                <a:spcPts val="6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600" dirty="0" err="1">
                <a:latin typeface="Aptos"/>
              </a:rPr>
              <a:t>res.json</a:t>
            </a:r>
            <a:r>
              <a:rPr sz="1600" dirty="0">
                <a:latin typeface="Aptos"/>
              </a:rPr>
              <a:t>() sets content type and </a:t>
            </a:r>
            <a:r>
              <a:rPr sz="1600" dirty="0" err="1">
                <a:latin typeface="Aptos"/>
              </a:rPr>
              <a:t>stringifies</a:t>
            </a:r>
            <a:r>
              <a:rPr sz="1600" dirty="0">
                <a:latin typeface="Aptos"/>
              </a:rPr>
              <a:t>.</a:t>
            </a:r>
          </a:p>
          <a:p>
            <a:pPr>
              <a:spcAft>
                <a:spcPts val="600"/>
              </a:spcAft>
              <a:defRPr sz="1500" b="0">
                <a:solidFill>
                  <a:srgbClr val="111827"/>
                </a:solidFill>
                <a:latin typeface="Aptos"/>
              </a:defRPr>
            </a:pPr>
            <a:r>
              <a:rPr sz="1600" dirty="0">
                <a:latin typeface="Aptos"/>
              </a:rPr>
              <a:t>/health is a simple smoke test.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9779A-E2F4-49D9-B136-2FDB1950B418}"/>
              </a:ext>
            </a:extLst>
          </p:cNvPr>
          <p:cNvSpPr txBox="1"/>
          <p:nvPr/>
        </p:nvSpPr>
        <p:spPr>
          <a:xfrm>
            <a:off x="8688918" y="2011680"/>
            <a:ext cx="1995943" cy="41853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defRPr sz="1600" b="1">
                <a:solidFill>
                  <a:srgbClr val="16006B"/>
                </a:solidFill>
                <a:latin typeface="Aptos"/>
              </a:defRPr>
            </a:pPr>
            <a:r>
              <a:rPr dirty="0">
                <a:latin typeface="Aptos"/>
              </a:rPr>
              <a:t>What to notice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Routing: params and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Route params identify a specific resource: /tasks/:id.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Query params filter or sort collections: /tasks?status=open.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Keep paths resource-oriented and predictable.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Avoid verbs in resource names when the method already says the action.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CRUD skeleton for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43484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3876" y="1901952"/>
            <a:ext cx="10104120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FFFFFF"/>
                </a:solidFill>
                <a:latin typeface="Courier New"/>
              </a:rPr>
              <a:t>let tasks = [];
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app.get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('/tasks', (req, res) =&gt;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res.json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({ success: true, data: tasks }));
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app.post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('/tasks', (req, res) =&gt; {
  const task = { id: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crypto.randomUUID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(), title: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req.body.title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, done: false };
 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tasks.push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(task);
 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res.status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(201).json({ success: true, data: task });
});
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app.get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('/tasks/:id', (req, res) =&gt; {
  const task =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tasks.find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(t =&gt; t.id === req.params.id);
  if (!task) return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res.status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(404).json({ success: false, error: { message: 'Task not found' }});
  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res.json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({ success: true, data: task });
});</a:t>
            </a:r>
            <a:endParaRPr lang="en-IN" sz="1400" b="0" dirty="0">
              <a:solidFill>
                <a:srgbClr val="FFFFFF"/>
              </a:solidFill>
              <a:latin typeface="Courier New"/>
            </a:endParaRPr>
          </a:p>
          <a:p>
            <a:endParaRPr lang="en-IN" sz="1400" dirty="0">
              <a:solidFill>
                <a:srgbClr val="FFFFFF"/>
              </a:solidFill>
              <a:latin typeface="Courier New"/>
            </a:endParaRPr>
          </a:p>
          <a:p>
            <a:pPr>
              <a:spcAft>
                <a:spcPts val="100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lang="en-IN" sz="1400" dirty="0" err="1">
                <a:latin typeface="Consolas"/>
              </a:rPr>
              <a:t>app.get</a:t>
            </a:r>
            <a:r>
              <a:rPr lang="en-IN" sz="1400" dirty="0">
                <a:latin typeface="Consolas"/>
              </a:rPr>
              <a:t>('/</a:t>
            </a:r>
            <a:r>
              <a:rPr lang="en-IN" sz="1400" dirty="0" err="1">
                <a:latin typeface="Consolas"/>
              </a:rPr>
              <a:t>api</a:t>
            </a:r>
            <a:r>
              <a:rPr lang="en-IN" sz="1400" dirty="0">
                <a:latin typeface="Consolas"/>
              </a:rPr>
              <a:t>/tasks', (</a:t>
            </a:r>
            <a:r>
              <a:rPr lang="en-IN" sz="1400" dirty="0" err="1">
                <a:latin typeface="Consolas"/>
              </a:rPr>
              <a:t>req</a:t>
            </a:r>
            <a:r>
              <a:rPr lang="en-IN" sz="1400" dirty="0">
                <a:latin typeface="Consolas"/>
              </a:rPr>
              <a:t>, res) =&gt; {</a:t>
            </a:r>
          </a:p>
          <a:p>
            <a:pPr>
              <a:spcAft>
                <a:spcPts val="100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  </a:t>
            </a:r>
            <a:r>
              <a:rPr lang="en-IN" sz="1400" dirty="0" err="1">
                <a:latin typeface="Consolas"/>
              </a:rPr>
              <a:t>const</a:t>
            </a:r>
            <a:r>
              <a:rPr lang="en-IN" sz="1400" dirty="0">
                <a:latin typeface="Consolas"/>
              </a:rPr>
              <a:t> { status } = </a:t>
            </a:r>
            <a:r>
              <a:rPr lang="en-IN" sz="1400" dirty="0" err="1">
                <a:latin typeface="Consolas"/>
              </a:rPr>
              <a:t>req.query</a:t>
            </a:r>
            <a:r>
              <a:rPr lang="en-IN" sz="1400" dirty="0">
                <a:latin typeface="Consolas"/>
              </a:rPr>
              <a:t>;</a:t>
            </a:r>
          </a:p>
          <a:p>
            <a:pPr>
              <a:spcAft>
                <a:spcPts val="100"/>
              </a:spcAft>
              <a:defRPr sz="1300">
                <a:solidFill>
                  <a:srgbClr val="E5E7EB"/>
                </a:solidFill>
                <a:latin typeface="Consolas"/>
              </a:defRPr>
            </a:pPr>
            <a:r>
              <a:rPr lang="en-IN" sz="1400" dirty="0">
                <a:latin typeface="Consolas"/>
              </a:rPr>
              <a:t>  </a:t>
            </a:r>
            <a:r>
              <a:rPr lang="en-IN" sz="1400" dirty="0" err="1">
                <a:latin typeface="Consolas"/>
              </a:rPr>
              <a:t>res.json</a:t>
            </a:r>
            <a:r>
              <a:rPr lang="en-IN" sz="1400" dirty="0">
                <a:latin typeface="Consolas"/>
              </a:rPr>
              <a:t>({ filter: status || 'all' }); ) });</a:t>
            </a:r>
          </a:p>
          <a:p>
            <a:pPr>
              <a:spcAft>
                <a:spcPts val="100"/>
              </a:spcAft>
              <a:defRPr sz="1300">
                <a:solidFill>
                  <a:srgbClr val="E5E7EB"/>
                </a:solidFill>
                <a:latin typeface="Consolas"/>
              </a:defRPr>
            </a:pPr>
            <a:endParaRPr lang="en-IN" sz="1400" dirty="0">
              <a:latin typeface="Consolas"/>
            </a:endParaRPr>
          </a:p>
          <a:p>
            <a:endParaRPr sz="1400" b="0" dirty="0">
              <a:solidFill>
                <a:srgbClr val="FFFFFF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req and res: what to reach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req.params: values from URL 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req.query: values after ?.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req.body: JSON payload after express.json().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res.status().json(): set status and send JSON.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87680" y="6377939"/>
            <a:ext cx="10744200" cy="25908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Rounded Rectangle 15"/>
          <p:cNvSpPr/>
          <p:nvPr/>
        </p:nvSpPr>
        <p:spPr>
          <a:xfrm>
            <a:off x="548640" y="1615440"/>
            <a:ext cx="10477500" cy="461010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419100" y="441960"/>
            <a:ext cx="10096500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8915400" cy="4191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400" b="1">
                <a:solidFill>
                  <a:srgbClr val="F5A000"/>
                </a:solidFill>
                <a:latin typeface="Aptos"/>
              </a:defRPr>
            </a:pPr>
            <a:r>
              <a:rPr sz="667" b="1">
                <a:solidFill>
                  <a:srgbClr val="12165C"/>
                </a:solidFill>
                <a:latin typeface="Aptos"/>
              </a:rPr>
              <a:t>Day 1 - Foundations to a Working Express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0100"/>
            <a:ext cx="9372600" cy="59436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l">
              <a:defRPr sz="3000" b="1">
                <a:solidFill>
                  <a:srgbClr val="16006B"/>
                </a:solidFill>
                <a:latin typeface="Aptos"/>
              </a:defRPr>
            </a:pPr>
            <a:r>
              <a:rPr sz="2000" b="1">
                <a:solidFill>
                  <a:srgbClr val="12165C"/>
                </a:solidFill>
                <a:latin typeface="Aptos Display"/>
              </a:rPr>
              <a:t>Middleware order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889760"/>
            <a:ext cx="1524000" cy="45720"/>
          </a:xfrm>
          <a:prstGeom prst="rect">
            <a:avLst/>
          </a:prstGeom>
          <a:solidFill>
            <a:srgbClr val="F5A000"/>
          </a:solidFill>
          <a:ln>
            <a:solidFill>
              <a:srgbClr val="F5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Rounded Rectangle 5"/>
          <p:cNvSpPr/>
          <p:nvPr/>
        </p:nvSpPr>
        <p:spPr>
          <a:xfrm>
            <a:off x="723900" y="2095500"/>
            <a:ext cx="4800600" cy="3733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952500" y="2286000"/>
            <a:ext cx="4343400" cy="228600"/>
          </a:xfrm>
          <a:prstGeom prst="rect">
            <a:avLst/>
          </a:prstGeom>
          <a:noFill/>
        </p:spPr>
        <p:txBody>
          <a:bodyPr wrap="square" lIns="38100" rIns="38100">
            <a:normAutofit fontScale="92500" lnSpcReduction="10000"/>
          </a:bodyPr>
          <a:lstStyle/>
          <a:p>
            <a:pPr>
              <a:defRPr sz="1300" b="1">
                <a:solidFill>
                  <a:srgbClr val="F5A000"/>
                </a:solidFill>
                <a:latin typeface="Aptos"/>
              </a:defRPr>
            </a:pPr>
            <a:r>
              <a:rPr sz="1083">
                <a:latin typeface="Aptos"/>
              </a:rPr>
              <a:t>Concept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606040"/>
            <a:ext cx="4343400" cy="27432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1500" b="0">
                <a:solidFill>
                  <a:srgbClr val="16006B"/>
                </a:solidFill>
                <a:latin typeface="Consolas"/>
              </a:defRPr>
            </a:pPr>
            <a:r>
              <a:rPr sz="1250">
                <a:latin typeface="Aptos"/>
              </a:rPr>
              <a:t>Request</a:t>
            </a:r>
            <a:br>
              <a:rPr sz="1250"/>
            </a:br>
            <a:r>
              <a:rPr sz="1250">
                <a:latin typeface="Aptos"/>
              </a:rPr>
              <a:t>  -&gt; logger</a:t>
            </a:r>
            <a:br>
              <a:rPr sz="1250"/>
            </a:br>
            <a:r>
              <a:rPr sz="1250">
                <a:latin typeface="Aptos"/>
              </a:rPr>
              <a:t>  -&gt; express.json</a:t>
            </a:r>
            <a:br>
              <a:rPr sz="1250"/>
            </a:br>
            <a:r>
              <a:rPr sz="1250">
                <a:latin typeface="Aptos"/>
              </a:rPr>
              <a:t>  -&gt; routes</a:t>
            </a:r>
            <a:br>
              <a:rPr sz="1250"/>
            </a:br>
            <a:r>
              <a:rPr sz="1250">
                <a:latin typeface="Aptos"/>
              </a:rPr>
              <a:t>  -&gt; 404 handler</a:t>
            </a:r>
            <a:br>
              <a:rPr sz="1250"/>
            </a:br>
            <a:r>
              <a:rPr sz="1250">
                <a:latin typeface="Aptos"/>
              </a:rPr>
              <a:t>  -&gt; error handler</a:t>
            </a:r>
            <a:br>
              <a:rPr sz="1250"/>
            </a:br>
            <a:r>
              <a:rPr sz="1250">
                <a:latin typeface="Aptos"/>
              </a:rPr>
              <a:t>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3100" y="2095500"/>
            <a:ext cx="5029200" cy="373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6019800" y="2324100"/>
            <a:ext cx="4495800" cy="28956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Middleware runs in the order you register it.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A middleware must call next() or send a response.</a:t>
            </a:r>
          </a:p>
          <a:p>
            <a:pPr>
              <a:spcAft>
                <a:spcPts val="5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rPr sz="1417">
                <a:latin typeface="Aptos"/>
              </a:rPr>
              <a:t>Error middleware has four parameters: err, req, res,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900" y="5905500"/>
            <a:ext cx="10058400" cy="4191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914400" y="6004560"/>
            <a:ext cx="9601200" cy="190500"/>
          </a:xfrm>
          <a:prstGeom prst="rect">
            <a:avLst/>
          </a:prstGeom>
          <a:noFill/>
        </p:spPr>
        <p:txBody>
          <a:bodyPr wrap="square" lIns="38100" rIns="38100">
            <a:normAutofit fontScale="70000" lnSpcReduction="20000"/>
          </a:bodyPr>
          <a:lstStyle/>
          <a:p>
            <a:pPr>
              <a:defRPr sz="1200" b="1">
                <a:solidFill>
                  <a:srgbClr val="9A3412"/>
                </a:solidFill>
                <a:latin typeface="Aptos"/>
              </a:defRPr>
            </a:pPr>
            <a:r>
              <a:rPr sz="1000">
                <a:latin typeface="Aptos"/>
              </a:rPr>
              <a:t>Gotcha: define error middleware after routes, not before.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515100"/>
            <a:ext cx="38100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Day 1 - Foundations to a Working Express API  |  Mitrajanu Mishra, Senior Software Engineer @ KFINTECH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515100"/>
            <a:ext cx="533400" cy="190500"/>
          </a:xfrm>
          <a:prstGeom prst="rect">
            <a:avLst/>
          </a:prstGeom>
          <a:noFill/>
        </p:spPr>
        <p:txBody>
          <a:bodyPr wrap="square" lIns="38100" rIns="38100">
            <a:normAutofit/>
          </a:bodyPr>
          <a:lstStyle/>
          <a:p>
            <a:pPr algn="r">
              <a:defRPr sz="800" b="0">
                <a:solidFill>
                  <a:srgbClr val="4B5563"/>
                </a:solidFill>
                <a:latin typeface="Aptos"/>
              </a:defRPr>
            </a:pPr>
            <a:r>
              <a:rPr sz="542">
                <a:solidFill>
                  <a:srgbClr val="5A5A6E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Custom logger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function logger(req, res, next) {
  const started = Date.now();
  res.on('finish', () =&gt; {
    console.log(`${req.method} ${req.originalUrl} ${res.statusCode} ${Date.now() - started}ms`);
  });
  next();
}
app.use(logger);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next() hands control to the next middleware or route.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Validation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FFFFF"/>
                </a:solidFill>
                <a:latin typeface="Courier New"/>
              </a:rPr>
              <a:t>function validateTask(req, res, next) {
  const { title } = req.body;
  if (!title || title.trim().length &lt; 3) {
    return res.status(400).json({
      success: false,
      error: { message: 'Title must be at least 3 characters' }
    });
  }
  next();
}
app.post('/tasks', validateTask, createTask);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Validate before your route performs business logic.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Centralized error handler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4069080"/>
          </a:xfrm>
          <a:prstGeom prst="roundRect">
            <a:avLst/>
          </a:prstGeom>
          <a:solidFill>
            <a:srgbClr val="181C28"/>
          </a:solidFill>
          <a:ln>
            <a:solidFill>
              <a:srgbClr val="37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104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dirty="0" err="1">
                <a:solidFill>
                  <a:srgbClr val="FFFFFF"/>
                </a:solidFill>
                <a:latin typeface="Courier New"/>
              </a:rPr>
              <a:t>app.use</a:t>
            </a:r>
            <a:r>
              <a:rPr sz="1350" b="0" dirty="0">
                <a:solidFill>
                  <a:srgbClr val="FFFFFF"/>
                </a:solidFill>
                <a:latin typeface="Courier New"/>
              </a:rPr>
              <a:t>((err, req, res, next) =&gt; {
  </a:t>
            </a:r>
            <a:r>
              <a:rPr sz="1350" b="0" dirty="0" err="1">
                <a:solidFill>
                  <a:srgbClr val="FFFFFF"/>
                </a:solidFill>
                <a:latin typeface="Courier New"/>
              </a:rPr>
              <a:t>console.error</a:t>
            </a:r>
            <a:r>
              <a:rPr sz="1350" b="0" dirty="0">
                <a:solidFill>
                  <a:srgbClr val="FFFFFF"/>
                </a:solidFill>
                <a:latin typeface="Courier New"/>
              </a:rPr>
              <a:t>(err);
  </a:t>
            </a:r>
            <a:r>
              <a:rPr sz="1350" b="0" dirty="0" err="1">
                <a:solidFill>
                  <a:srgbClr val="FFFFFF"/>
                </a:solidFill>
                <a:latin typeface="Courier New"/>
              </a:rPr>
              <a:t>res.status</a:t>
            </a:r>
            <a:r>
              <a:rPr sz="1350" b="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350" b="0" dirty="0" err="1">
                <a:solidFill>
                  <a:srgbClr val="FFFFFF"/>
                </a:solidFill>
                <a:latin typeface="Courier New"/>
              </a:rPr>
              <a:t>err.statusCode</a:t>
            </a:r>
            <a:r>
              <a:rPr sz="1350" b="0" dirty="0">
                <a:solidFill>
                  <a:srgbClr val="FFFFFF"/>
                </a:solidFill>
                <a:latin typeface="Courier New"/>
              </a:rPr>
              <a:t> || 500).json({
    success: false,
    error: { message: </a:t>
            </a:r>
            <a:r>
              <a:rPr sz="1350" b="0" dirty="0" err="1">
                <a:solidFill>
                  <a:srgbClr val="FFFFFF"/>
                </a:solidFill>
                <a:latin typeface="Courier New"/>
              </a:rPr>
              <a:t>err.message</a:t>
            </a:r>
            <a:r>
              <a:rPr sz="1350" b="0" dirty="0">
                <a:solidFill>
                  <a:srgbClr val="FFFFFF"/>
                </a:solidFill>
                <a:latin typeface="Courier New"/>
              </a:rPr>
              <a:t> || 'Internal server error' }
  });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6126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KEY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6108192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Error middleware has four parameters: err, req, res, next.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9900"/>
                </a:solidFill>
                <a:latin typeface="Aptos"/>
              </a:rPr>
              <a:t>🛠️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31169"/>
                </a:solidFill>
                <a:latin typeface="Aptos"/>
              </a:rPr>
              <a:t>Express CRUD: in-memory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960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dirty="0">
                <a:solidFill>
                  <a:srgbClr val="14192D"/>
                </a:solidFill>
                <a:latin typeface="Aptos"/>
              </a:rPr>
              <a:t>Build full CRUD for /tasks with logger middleware, validation</a:t>
            </a:r>
            <a:endParaRPr lang="en-IN" sz="2200" b="0" dirty="0">
              <a:solidFill>
                <a:srgbClr val="14192D"/>
              </a:solidFill>
              <a:latin typeface="Aptos"/>
            </a:endParaRPr>
          </a:p>
          <a:p>
            <a:r>
              <a:rPr sz="2200" b="0" dirty="0">
                <a:solidFill>
                  <a:srgbClr val="14192D"/>
                </a:solidFill>
                <a:latin typeface="Aptos"/>
              </a:rPr>
              <a:t>and centralized error handling.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677BC"/>
                </a:solidFill>
                <a:latin typeface="Aptos"/>
              </a:rPr>
              <a:t>Time-box: 35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208D59"/>
                </a:solidFill>
                <a:latin typeface="Aptos"/>
              </a:rPr>
              <a:t>Solution branch: checkpoint-03-express-crud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57800"/>
            <a:ext cx="10058400" cy="6400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5376672"/>
            <a:ext cx="8778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Try first, then compare. The point is to practice reading errors, not avoid them.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9900"/>
                </a:solidFill>
                <a:latin typeface="Aptos"/>
              </a:rPr>
              <a:t>🛠️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31169"/>
                </a:solidFill>
                <a:latin typeface="Aptos"/>
              </a:rPr>
              <a:t>Student gap: PUT and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960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dirty="0">
                <a:solidFill>
                  <a:srgbClr val="14192D"/>
                </a:solidFill>
                <a:latin typeface="Aptos"/>
              </a:rPr>
              <a:t>Implement PUT /tasks/:id and DELETE /tasks/:id yourself. </a:t>
            </a:r>
            <a:endParaRPr lang="en-IN" sz="2200" b="0" dirty="0">
              <a:solidFill>
                <a:srgbClr val="14192D"/>
              </a:solidFill>
              <a:latin typeface="Aptos"/>
            </a:endParaRPr>
          </a:p>
          <a:p>
            <a:r>
              <a:rPr sz="2200" b="0" dirty="0">
                <a:solidFill>
                  <a:srgbClr val="14192D"/>
                </a:solidFill>
                <a:latin typeface="Aptos"/>
              </a:rPr>
              <a:t>Match the response format and status 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677BC"/>
                </a:solidFill>
                <a:latin typeface="Aptos"/>
              </a:rPr>
              <a:t>Time-box: 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8D59"/>
                </a:solidFill>
                <a:latin typeface="Aptos"/>
              </a:rPr>
              <a:t>Solution branch: checkpoint-03-express-crud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57800"/>
            <a:ext cx="10058400" cy="6400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9900"/>
                </a:solidFill>
                <a:latin typeface="Aptos"/>
              </a:rPr>
              <a:t>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1" y="5376672"/>
            <a:ext cx="87782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4192D"/>
                </a:solidFill>
                <a:latin typeface="Aptos"/>
              </a:rPr>
              <a:t>Try first, then compare. The point is to practice reading errors, not avoid them.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Module 4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Express turns raw HTTP into clean routes and middleware.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Middleware order can make or break the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Validation belongs before business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Centralized error handling keeps route code readable.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Aptos"/>
              </a:rPr>
              <a:t>DAY 1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60120"/>
            <a:ext cx="8869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1169"/>
                </a:solidFill>
                <a:latin typeface="Aptos"/>
              </a:rPr>
              <a:t>Day 1 Recap: what you can now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591056"/>
            <a:ext cx="105156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548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dirty="0">
                <a:solidFill>
                  <a:srgbClr val="5B6378"/>
                </a:solidFill>
                <a:latin typeface="Aptos"/>
              </a:rPr>
              <a:t>Backend API Development </a:t>
            </a:r>
            <a:r>
              <a:rPr lang="en-IN" sz="800" b="0" dirty="0">
                <a:solidFill>
                  <a:srgbClr val="5B6378"/>
                </a:solidFill>
                <a:latin typeface="Aptos"/>
              </a:rPr>
              <a:t>Course</a:t>
            </a:r>
            <a:r>
              <a:rPr sz="800" b="0" dirty="0">
                <a:solidFill>
                  <a:srgbClr val="5B6378"/>
                </a:solidFill>
                <a:latin typeface="Aptos"/>
              </a:rPr>
              <a:t> ·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 local Express API with health checks and REST-style routes.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5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7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A full in-memory CRUD resource with validation and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9543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5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Middleware for logging and request processing.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990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9623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192D"/>
                </a:solidFill>
                <a:latin typeface="Aptos"/>
              </a:rPr>
              <a:t>Tomorrow: replace memory with MongoDB and secure the API.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821575-16F5-502E-7944-E036B49BFBE7}"/>
              </a:ext>
            </a:extLst>
          </p:cNvPr>
          <p:cNvSpPr txBox="1"/>
          <p:nvPr/>
        </p:nvSpPr>
        <p:spPr>
          <a:xfrm>
            <a:off x="4918515" y="1416581"/>
            <a:ext cx="6092786" cy="2127287"/>
          </a:xfrm>
          <a:prstGeom prst="rect">
            <a:avLst/>
          </a:prstGeom>
        </p:spPr>
        <p:txBody>
          <a:bodyPr vert="horz" lIns="60960" tIns="30480" rIns="60960" bIns="3048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1073" name="Graphic 1072" descr="Handshake">
            <a:extLst>
              <a:ext uri="{FF2B5EF4-FFF2-40B4-BE49-F238E27FC236}">
                <a16:creationId xmlns:a16="http://schemas.microsoft.com/office/drawing/2014/main" id="{F1C727BD-AF36-10C4-58F1-5D10C8037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899" y="2355650"/>
            <a:ext cx="3756276" cy="3756276"/>
          </a:xfrm>
          <a:prstGeom prst="rect">
            <a:avLst/>
          </a:prstGeom>
        </p:spPr>
      </p:pic>
      <p:pic>
        <p:nvPicPr>
          <p:cNvPr id="3" name="Picture 2" descr="A black and white sign&#10;&#10;Description automatically generated with low confidence">
            <a:extLst>
              <a:ext uri="{FF2B5EF4-FFF2-40B4-BE49-F238E27FC236}">
                <a16:creationId xmlns:a16="http://schemas.microsoft.com/office/drawing/2014/main" id="{333932DE-8C29-D4E5-2B3A-2C7B915ACA5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296754"/>
            <a:ext cx="1574800" cy="236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611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4607</Words>
  <Application>Microsoft Office PowerPoint</Application>
  <PresentationFormat>Widescreen</PresentationFormat>
  <Paragraphs>617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Mitrajanu  Mishra</cp:lastModifiedBy>
  <cp:revision>25</cp:revision>
  <dcterms:created xsi:type="dcterms:W3CDTF">2013-01-27T09:14:16Z</dcterms:created>
  <dcterms:modified xsi:type="dcterms:W3CDTF">2026-06-04T03:01:02Z</dcterms:modified>
  <cp:category/>
</cp:coreProperties>
</file>