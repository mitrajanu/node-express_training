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9" r:id="rId2"/>
    <p:sldId id="257" r:id="rId3"/>
    <p:sldId id="258" r:id="rId4"/>
    <p:sldId id="259" r:id="rId5"/>
    <p:sldId id="260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302" r:id="rId35"/>
    <p:sldId id="305" r:id="rId36"/>
    <p:sldId id="306" r:id="rId37"/>
    <p:sldId id="311" r:id="rId38"/>
    <p:sldId id="310" r:id="rId39"/>
    <p:sldId id="308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10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76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45804" y="2548276"/>
            <a:ext cx="5712133" cy="457200"/>
          </a:xfrm>
          <a:prstGeom prst="rect">
            <a:avLst/>
          </a:prstGeom>
          <a:noFill/>
        </p:spPr>
        <p:txBody>
          <a:bodyPr wrap="square" lIns="38100" rIns="38100">
            <a:normAutofit lnSpcReduction="10000"/>
          </a:bodyPr>
          <a:lstStyle/>
          <a:p>
            <a:pPr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500" dirty="0">
                <a:latin typeface="Aptos"/>
              </a:rPr>
              <a:t>Backend API Development</a:t>
            </a:r>
            <a:r>
              <a:rPr lang="en-IN" sz="2500" dirty="0">
                <a:latin typeface="Aptos"/>
              </a:rPr>
              <a:t> Course</a:t>
            </a:r>
            <a:endParaRPr sz="2500" dirty="0"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68141" y="2987040"/>
            <a:ext cx="6248399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600" b="0">
                <a:solidFill>
                  <a:srgbClr val="4B5563"/>
                </a:solidFill>
                <a:latin typeface="Aptos"/>
              </a:defRPr>
            </a:pPr>
            <a:endParaRPr sz="1333" dirty="0"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20539" y="3191756"/>
            <a:ext cx="6096000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20000"/>
          </a:bodyPr>
          <a:lstStyle/>
          <a:p>
            <a:pPr>
              <a:defRPr sz="1800" b="1">
                <a:solidFill>
                  <a:srgbClr val="F5A000"/>
                </a:solidFill>
                <a:latin typeface="Aptos"/>
              </a:defRPr>
            </a:pPr>
            <a:r>
              <a:rPr sz="1500" dirty="0">
                <a:latin typeface="Aptos"/>
              </a:rPr>
              <a:t>DAY </a:t>
            </a:r>
            <a:r>
              <a:rPr lang="en-IN" sz="1500" dirty="0">
                <a:latin typeface="Aptos"/>
              </a:rPr>
              <a:t>2</a:t>
            </a:r>
            <a:endParaRPr sz="1500" dirty="0"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68140" y="4076700"/>
            <a:ext cx="6096000" cy="4953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500" b="1">
                <a:solidFill>
                  <a:srgbClr val="111827"/>
                </a:solidFill>
                <a:latin typeface="Aptos"/>
              </a:defRPr>
            </a:pPr>
            <a:endParaRPr sz="1250" dirty="0"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4656" y="5006340"/>
            <a:ext cx="3345344" cy="289560"/>
          </a:xfrm>
          <a:prstGeom prst="rect">
            <a:avLst/>
          </a:prstGeom>
          <a:noFill/>
        </p:spPr>
        <p:txBody>
          <a:bodyPr wrap="square" lIns="38100" rIns="38100">
            <a:noAutofit/>
          </a:bodyPr>
          <a:lstStyle/>
          <a:p>
            <a:pPr>
              <a:defRPr sz="1500" b="1">
                <a:solidFill>
                  <a:srgbClr val="16006B"/>
                </a:solidFill>
                <a:latin typeface="Aptos"/>
              </a:defRPr>
            </a:pPr>
            <a:r>
              <a:rPr sz="1667" dirty="0">
                <a:latin typeface="Aptos"/>
              </a:rPr>
              <a:t>Instructor: Mitrajanu Mishra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4656" y="5314540"/>
            <a:ext cx="3104508" cy="289560"/>
          </a:xfrm>
          <a:prstGeom prst="rect">
            <a:avLst/>
          </a:prstGeom>
          <a:noFill/>
        </p:spPr>
        <p:txBody>
          <a:bodyPr wrap="square" lIns="38100" rIns="38100">
            <a:noAutofit/>
          </a:bodyPr>
          <a:lstStyle/>
          <a:p>
            <a:pPr>
              <a:defRPr sz="1200" b="0">
                <a:solidFill>
                  <a:srgbClr val="4B5563"/>
                </a:solidFill>
                <a:latin typeface="Aptos"/>
              </a:defRPr>
            </a:pPr>
            <a:r>
              <a:rPr sz="1333" dirty="0">
                <a:latin typeface="Aptos"/>
              </a:rPr>
              <a:t>Senior Software Engineer @KFINTECH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2 DAYS · 9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Course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990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131169"/>
                </a:solidFill>
                <a:latin typeface="Aptos"/>
              </a:rPr>
              <a:t>MongoDB and Hands On</a:t>
            </a:r>
            <a:endParaRPr sz="1400" b="1" dirty="0">
              <a:solidFill>
                <a:srgbClr val="131169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736592" y="2029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FF9900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057400"/>
            <a:ext cx="2804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 err="1">
                <a:solidFill>
                  <a:srgbClr val="131169"/>
                </a:solidFill>
                <a:latin typeface="Aptos"/>
              </a:rPr>
              <a:t>Autentication</a:t>
            </a:r>
            <a:r>
              <a:rPr lang="en-IN" sz="1400" b="1" dirty="0">
                <a:solidFill>
                  <a:srgbClr val="131169"/>
                </a:solidFill>
                <a:latin typeface="Aptos"/>
              </a:rPr>
              <a:t> and Authorization</a:t>
            </a:r>
            <a:endParaRPr sz="1400" b="1" dirty="0">
              <a:solidFill>
                <a:srgbClr val="131169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21040" y="1920240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2029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990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2947" y="2057400"/>
            <a:ext cx="26870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131169"/>
                </a:solidFill>
                <a:latin typeface="Aptos"/>
              </a:rPr>
              <a:t>AWS( S3,EC2,CLOUDFRONT,IAM)</a:t>
            </a:r>
            <a:endParaRPr sz="1400" b="1" dirty="0">
              <a:solidFill>
                <a:srgbClr val="131169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3063240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172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9900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251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131169"/>
                </a:solidFill>
                <a:latin typeface="Aptos"/>
              </a:rPr>
              <a:t>Deploying a react app into AWS</a:t>
            </a:r>
            <a:endParaRPr sz="1400" b="1" dirty="0">
              <a:solidFill>
                <a:srgbClr val="131169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192D"/>
                </a:solidFill>
                <a:latin typeface="Aptos"/>
              </a:rPr>
              <a:t>We build ONE continuous project, evolving it module by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9900"/>
                </a:solidFill>
                <a:latin typeface="Aptos"/>
              </a:rP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9052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rgbClr val="131169"/>
                </a:solidFill>
                <a:latin typeface="Aptos"/>
              </a:rPr>
              <a:t>SQL vs </a:t>
            </a:r>
            <a:r>
              <a:rPr lang="en-IN" sz="3600" b="1" dirty="0">
                <a:solidFill>
                  <a:srgbClr val="131169"/>
                </a:solidFill>
                <a:latin typeface="Aptos"/>
              </a:rPr>
              <a:t>NOSQL</a:t>
            </a:r>
            <a:endParaRPr sz="3600" b="1" dirty="0">
              <a:solidFill>
                <a:srgbClr val="1311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378"/>
                </a:solidFill>
                <a:latin typeface="Aptos"/>
              </a:rPr>
              <a:t>60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4192D"/>
                </a:solidFill>
                <a:latin typeface="Aptos"/>
              </a:rPr>
              <a:t>We keep evolving one backend project, one capability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Compare SQL and NoSQL trade-offs without hype.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Identify entities, attributes, and relationships.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Model one-to-one, one-to-many, and many-to-many relationships.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Decide when to embed or reference in MongoDB.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SQL vs NoSQL: the real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SQL favors structured relations, joins, and strong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NoSQL favors flexible documents and access-pattern-driven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Neither is “better”; the product requirements decide.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Ask: how will the app read and update this data most often?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9900"/>
                </a:solidFill>
                <a:latin typeface="Aptos"/>
              </a:rPr>
              <a:t>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31169"/>
                </a:solidFill>
                <a:latin typeface="Aptos"/>
              </a:rPr>
              <a:t>MongoDB + Connecting to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378"/>
                </a:solidFill>
                <a:latin typeface="Aptos"/>
              </a:rPr>
              <a:t>90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4192D"/>
                </a:solidFill>
                <a:latin typeface="Aptos"/>
              </a:rPr>
              <a:t>We keep evolving one backend project, one capability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What MongoDB gives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Data is stored as flexible documents in collections.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Documents look like JSON but are stored as BSON.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It fits APIs where resources naturally map to nested objects.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Great flexibility still needs schema discipline in application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Indexes: the library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Without an index, MongoDB may scan many documents.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An index speeds common lookups such as email or ownerId.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Indexes cost storage and write overhead.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Create indexes for real query patterns, not every field.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MongoDB CRUD mental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// Create
db.tasks.insertOne({ title: 'Learn Mongo', done: false })
// Read
db.tasks.find({ done: false })
// Update
db.tasks.updateOne({ _id: id }, { $set: { done: true } })
// Delete
db.tasks.deleteOne({ _id: id 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Mongo operators like $set describe how to update a document.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Aggregation pipeline intro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Aggregation transforms data through stages.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Common stages: $match, $group, $sort, $project.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Think conveyor belt: each stage receives and reshapes documents.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Use it for reports, summaries, and advanced reads.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Mongoose schema and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const mongoose = require('mongoose');
const taskSchema = new mongoose.Schema({
  title: { type: String, required: true, trim: true },
  done: { type: Boolean, default: false },
  owner: { type: mongoose.Schema.Types.ObjectId, ref: 'User' }
}, { timestamps: true });
module.exports = mongoose.model('Task', taskSchema);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Schema validation catches bad data before it reaches the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Connect Mongo to Express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const mongoose = require('mongoose');
async function connectDb() {
  await mongoose.connect(process.env.MONGO_URI);
  console.log('MongoDB connected');
}
connectDb()
  .then(() =&gt; app.listen(3000, () =&gt; console.log('API on port 3000')))
  .catch(err =&gt; {
    console.error('Failed to start API', err);
    process.exit(1);
  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Start listening only after the database connection succeeds.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Persisted create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app.post('/tasks', validateTask, async (req, res, next) =&gt; {
  try {
    const task = await Task.create({
      title: req.body.title,
      owner: req.user.id
    });
    res.status(201).json({ success: true, data: task });
  } catch (err) {
    next(err);
  }
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async route errors should reach the central error handler.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populate a referenced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const task = await Task.findById(req.params.id)
  .populate('owner', 'name email');
res.json({ success: true, data: task 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populate replaces an ObjectId reference with selected fields from the linked document.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Module 6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MongoDB stores flexible documents; Mongoose adds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Indexes support performance for real query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Persisted CRUD is the same API contract with a real database behind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populate helps read referenced documents cleanly.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9900"/>
                </a:solidFill>
                <a:latin typeface="Aptos"/>
              </a:rPr>
              <a:t>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31169"/>
                </a:solidFill>
                <a:latin typeface="Aptos"/>
              </a:rPr>
              <a:t>Authentication vs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378"/>
                </a:solidFill>
                <a:latin typeface="Aptos"/>
              </a:rPr>
              <a:t>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4192D"/>
                </a:solidFill>
                <a:latin typeface="Aptos"/>
              </a:rPr>
              <a:t>We keep evolving one backend project, one capability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Separate authentication from authorization.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Hash passwords using bcrypt with salt.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Explain JWT header, payload, and signature.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Build register and login endpoints that issue tokens.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CRITICAL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Authentication vs authorization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Authentication asks: “Who are you?”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Authorization asks: “What are you allowed to do?”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Login proves identity; permissions control 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Common bug: checking identity but forgetting access rules.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SECURITY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Password hashing with bcrypt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Never store plain-text passwords.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bcrypt adds salt so identical passwords do not create identical hashes.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On login, compare the supplied password against the stored hash.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You do not decrypt a password hash. You verify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257800"/>
            <a:ext cx="10058400" cy="68580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GOTCHA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1" y="537667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Hash passwords before saving. Never log passwords or tokens.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User schema with password hash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const userSchema = new mongoose.Schema({
  name: { type: String, required: true },
  email: { type: String, required: true, unique: true },
  passwordHash: { type: String, required: true },
  role: { type: String, enum: ['user', 'admin'], default: 'user' }
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Store passwordHash, not password.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Register: hash then save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app.post('/register', async (req, res, next) =&gt; {
  try {
    const passwordHash = await bcrypt.hash(req.body.password, 12);
    const user = await User.create({
      name: req.body.name,
      email: req.body.email,
      passwordHash
    });
    res.status(201).json({ success: true, data: { id: user.id, email: user.email } });
  } catch (err) { next(err); }
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The cost factor balances security and performance.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JWT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 JWT has header.payload.signature.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The payload contains claims such as user id and role.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The signature proves the token was created by your server secret.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JWT content is encoded, not encrypted; avoid sensitive payload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Full auth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058400" cy="2468880"/>
          </a:xfrm>
          <a:prstGeom prst="roundRect">
            <a:avLst/>
          </a:prstGeom>
          <a:solidFill>
            <a:srgbClr val="F6F8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14884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31169"/>
                </a:solidFill>
                <a:latin typeface="Courier New"/>
              </a:rPr>
              <a:t>Register → hash password → store user
Login → compare password → issue JWT
Protected request → Bearer token → verify → req.user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0916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4192D"/>
                </a:solidFill>
                <a:latin typeface="Aptos"/>
              </a:rPr>
              <a:t>Authentication creates trusted identity context for later route protection.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Login: verify and issue JWT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app.post('/login', async (req, res, next) =&gt; {
  try {
    const user = await User.findOne({ email: req.body.email });
    if (!user) return res.status(401).json({ success: false, error: { message: 'Invalid credentials' } });
    const ok = await bcrypt.compare(req.body.password, user.passwordHash);
    if (!ok) return res.status(401).json({ success: false, error: { message: 'Invalid credentials' } });
    const token = jwt.sign({ id: user.id, role: user.role }, process.env.JWT_SECRET, { expiresIn: '1h' });
    res.json({ success: true, data: { token } });
  } catch (err) { next(err); }
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Use the same error message so attackers cannot enumerate emails.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Sending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Client sends Authorization: Bearer &lt;token&gt;.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Server verifies signature and expiry on protected routes.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Do not put tokens in URLs; they leak through logs and history.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Token expiry limits damage if a token is exposed.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9900"/>
                </a:solidFill>
                <a:latin typeface="Aptos"/>
              </a:rPr>
              <a:t>🛠️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31169"/>
                </a:solidFill>
                <a:latin typeface="Aptos"/>
              </a:rPr>
              <a:t>Build register and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4192D"/>
                </a:solidFill>
                <a:latin typeface="Aptos"/>
              </a:rPr>
              <a:t>Implement /register with bcrypt hashing and /login with bcrypt compare + JWT issue.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677BC"/>
                </a:solidFill>
                <a:latin typeface="Aptos"/>
              </a:rPr>
              <a:t>Time-box: 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08D59"/>
                </a:solidFill>
                <a:latin typeface="Aptos"/>
              </a:rPr>
              <a:t>Solution branch: checkpoint-05-auth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57800"/>
            <a:ext cx="10058400" cy="6400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COACHING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1" y="5376672"/>
            <a:ext cx="87782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Try first, then compare. The point is to practice reading errors, not avoid them.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Module 7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Authentication proves identity; authorization grants permissions.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Passwords must be salted and hashed.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JWTs are signed, encoded claims.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Login returns a token used on protected requests.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9900"/>
                </a:solidFill>
                <a:latin typeface="Aptos"/>
              </a:rPr>
              <a:t>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31169"/>
                </a:solidFill>
                <a:latin typeface="Aptos"/>
              </a:rPr>
              <a:t>Securing the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378"/>
                </a:solidFill>
                <a:latin typeface="Aptos"/>
              </a:rPr>
              <a:t>60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4192D"/>
                </a:solidFill>
                <a:latin typeface="Aptos"/>
              </a:rPr>
              <a:t>We keep evolving one backend project, one capability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Write auth middleware that protects routes.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Apply role-based access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Protect resource ownership.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Create reusable authorize(role) middleware.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Auth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function requireAuth(req, res, next) {
  const header = req.headers.authorization || '';
  const [scheme, token] = header.split(' ');
  if (scheme !== 'Bearer' || !token) {
    return res.status(401).json({ success: false, error: { message: 'Missing token' } });
  }
  try {
    req.user = jwt.verify(token, process.env.JWT_SECRET);
    next();
  } catch {
    res.status(401).json({ success: false, error: { message: 'Invalid token' } });
  }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Middleware attaches trusted user info to req.user.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RBAC: 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Roles are broad permissions such as admin or user.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RBAC is useful for admin dashboards and restricted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Keep role checks centralized, not scattered across handlers.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Roles do not replace ownership checks.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Reusable authorize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function authorize(...allowedRoles) {
  return (req, res, next) =&gt; {
    if (!allowedRoles.includes(req.user.role)) {
      return res.status(403).json({
        success: false,
        error: { message: 'Forbidden' }
      });
    }
    next();
  };
}
app.get('/admin/stats', requireAuth, authorize('admin'), getStats);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401 means not authenticated; 403 means authenticated but not allowed.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Resource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 user role may allow creating tasks, but not deleting someone else’s task.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Ownership checks compare resource.owner with req.user.id.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Do the check after loading the resource.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Return 404 or 403 based on your API’s disclosure policy.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Git hygiene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Commit source code, not dependencies or secrets.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Use .gitignore for node_modules and .env.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Commit .env.example with variable names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Small, meaningful commits help teammates review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257800"/>
            <a:ext cx="10058400" cy="68580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GOTCHA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1" y="537667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A secret committed once should be treated as leaked.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CAPSTONE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Project ideas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Task/project manager with teams and roles.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Mini e-commerce backend with cart and orders.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Blogging platform with authors, editors, and admins.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Online course platform with enrollments and lessons.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79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07991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Event booking system with capacity rules.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SELF-STUDY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Where to go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Advanced validation patterns and schema libraries.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API pagination, filtering, and sorting.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Testing controllers and middleware locally.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Caching fundamentals and rate limiting concepts.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79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07991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API documentation with OpenAPI/Swagger.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1167"/>
              <a:t>Day 2 - Data, Persistence,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916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500"/>
              <a:t>Connect with the instructor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485900"/>
            <a:ext cx="9144000" cy="3048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500" b="0">
                <a:solidFill>
                  <a:srgbClr val="4B5563"/>
                </a:solidFill>
                <a:latin typeface="Aptos"/>
              </a:defRPr>
            </a:pPr>
            <a:r>
              <a:rPr sz="1250"/>
              <a:t>Scan the QR code or use the LinkedIn link below.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Rounded Rectangle 6"/>
          <p:cNvSpPr/>
          <p:nvPr/>
        </p:nvSpPr>
        <p:spPr>
          <a:xfrm>
            <a:off x="838200" y="2286000"/>
            <a:ext cx="5334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" name="TextBox 7"/>
          <p:cNvSpPr txBox="1"/>
          <p:nvPr/>
        </p:nvSpPr>
        <p:spPr>
          <a:xfrm>
            <a:off x="1104900" y="2590800"/>
            <a:ext cx="4724400" cy="3810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20000"/>
          </a:bodyPr>
          <a:lstStyle/>
          <a:p>
            <a:pPr>
              <a:defRPr sz="2800" b="1">
                <a:solidFill>
                  <a:srgbClr val="16006B"/>
                </a:solidFill>
                <a:latin typeface="Aptos"/>
              </a:defRPr>
            </a:pPr>
            <a:r>
              <a:rPr sz="2333"/>
              <a:t>Mitrajanu Mishra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086100"/>
            <a:ext cx="4724400" cy="3048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600" b="0">
                <a:solidFill>
                  <a:srgbClr val="4B5563"/>
                </a:solidFill>
                <a:latin typeface="Aptos"/>
              </a:defRPr>
            </a:pPr>
            <a:r>
              <a:rPr sz="1333"/>
              <a:t>Senior Software Engineer @ KFINTECH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43300"/>
            <a:ext cx="4724400" cy="266700"/>
          </a:xfrm>
          <a:prstGeom prst="rect">
            <a:avLst/>
          </a:prstGeom>
          <a:noFill/>
        </p:spPr>
        <p:txBody>
          <a:bodyPr wrap="square" lIns="38100" rIns="38100">
            <a:normAutofit lnSpcReduction="10000"/>
          </a:bodyPr>
          <a:lstStyle/>
          <a:p>
            <a:pPr>
              <a:defRPr sz="1500" b="1">
                <a:solidFill>
                  <a:srgbClr val="F5A000"/>
                </a:solidFill>
                <a:latin typeface="Aptos"/>
              </a:defRPr>
            </a:pPr>
            <a:r>
              <a:rPr sz="1250"/>
              <a:t>LinkedIn: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848100"/>
            <a:ext cx="4724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200" b="0">
                <a:solidFill>
                  <a:srgbClr val="0D8BC9"/>
                </a:solidFill>
                <a:latin typeface="Aptos"/>
              </a:defRPr>
            </a:pPr>
            <a:r>
              <a:rPr sz="1000"/>
              <a:t>https://in.linkedin.com/in/mitrajanu-mishra-343539190</a:t>
            </a:r>
          </a:p>
        </p:txBody>
      </p:sp>
      <p:pic>
        <p:nvPicPr>
          <p:cNvPr id="12" name="Picture 11" descr="mitrajanu_linkedi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209800"/>
            <a:ext cx="2133600" cy="2133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6600" y="4495800"/>
            <a:ext cx="2590800" cy="3048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ctr">
              <a:defRPr sz="1600" b="1">
                <a:solidFill>
                  <a:srgbClr val="16006B"/>
                </a:solidFill>
                <a:latin typeface="Aptos"/>
              </a:defRPr>
            </a:pPr>
            <a:r>
              <a:rPr sz="1333"/>
              <a:t>Scan to 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 lnSpcReduction="10000"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667"/>
              <a:t>Day 2 - Data, Persistence, and Security  |  Mitrajanu Mishra, Senior Software Engineer @ KFINTECH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 lnSpcReduction="10000"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667"/>
              <a:t>51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DAY 2 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8ECB75-D100-4CA9-A4EF-AEB0FE2B1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921" y="1135585"/>
            <a:ext cx="6922093" cy="520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0408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2402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31169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632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9900"/>
                </a:solidFill>
                <a:latin typeface="Apto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B6378"/>
                </a:solidFill>
                <a:latin typeface="Aptos"/>
              </a:rPr>
              <a:t>Backend API Development Masterclass · Day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2607</Words>
  <Application>Microsoft Office PowerPoint</Application>
  <PresentationFormat>Widescreen</PresentationFormat>
  <Paragraphs>330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Mitrajanu  Mishra</cp:lastModifiedBy>
  <cp:revision>4</cp:revision>
  <dcterms:created xsi:type="dcterms:W3CDTF">2013-01-27T09:14:16Z</dcterms:created>
  <dcterms:modified xsi:type="dcterms:W3CDTF">2026-06-05T05:33:40Z</dcterms:modified>
  <cp:category/>
</cp:coreProperties>
</file>